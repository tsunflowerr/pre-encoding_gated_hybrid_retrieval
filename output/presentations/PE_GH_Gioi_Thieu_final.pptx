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nhóm và tên đề tài: PE-GH, truy xuất câu hỏi kỹ thuật có chọn lọc trên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phần: bài toán, ý tưởng, thiết kế hệ thống, dữ liệu và cách đánh giá.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dùng nhập một câu hỏi tiếng Anh về lập trình hoặc Unix/Linux. Hệ thống tìm trong kho câu hỏi Stack Exchange đã có và trả về danh sách câu hỏi cùng vấn đề, xếp theo mức độ phù hợp. Hệ thống không sinh câu trả lời.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BM25 rẻ nhưng chỉ khớp từ. Dense hiểu nghĩa nhưng mỗi truy vấn phải chạy transformer và tìm vector, phần đắt nhất trên CPU. Hybrid kết hợp cả hai nên thường tốt hơn, nhưng trả chi phí Dense cho mọi truy vấn.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ví dụ minh họa. Câu hỏi dùng đúng từ khóa có trong kho thì BM25 đã xếp đúng, chạy Dense chỉ tốn thời gian. Câu hỏi cùng ý nhưng khác từ (hidden files và dotfiles) thì BM25 dễ trượt, Dense mới có ích. Nếu nhận ra trước loại truy vấn, có thể bỏ qua Dense cho truy vấn dễ.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Câu hỏi trung tâm: trước khi trả chi phí mã hóa truy vấn, có đoán được Dense có cần hay không? Thông tin có sẵn lúc đó là câu hỏi và danh sách BM25. Để có lợi, bộ quyết định phải rẻ, đoán đủ đúng và giữ chất lượng trong biên cho phép.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Định tuyến theo từng truy vấn đã có. Arabzadeh và cộng sự (CIKM 2021) fine-tune BERT để chọn sparse hay dense/hybrid, nhãn dựa trên việc BM25 có tìm thấy kết quả đúng. LiteGator (2025) dùng SVM tuyến tính trên đặc trưng câu hỏi và điểm BM25, nhãn là Dense có lợi hơn không. Gate của PE-GH khác ở cách huấn luyện: hồi quy logistic nhẹ thay vì BERT, nhãn BM25 có tìm trượt không theo ý của bài 1 thay vì nhãn Dense có lợi của LiteGator, học trên nhiều chủ đề có chuẩn hóa theo từng chủ đề, và tỷ lệ gọi Dense được chọn trước. PE-GH cũng được so với quy tắc đơn giản ở cùng số lần gọi Dense.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nhìn câu hỏi và danh sách BM25 rồi chọn một trong hai nhánh, trước khi mã hóa truy vấn. Nhánh rẻ trả kết quả BM25, không chạy transformer, không tìm vector. Nhánh đầy đủ mới mã hóa, tìm vector và kết hợp với BM25.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BM25 chạy một lần cho mọi truy vấn. Gate dùng đặc trưng từ câu hỏi và danh sách BM25, tính điểm bằng hồi quy logistic và so với ngưỡng tau. Điểm thấp: trả nhánh rẻ. Điểm cao: mã hóa bằng arctic-embed-xs, tìm FAISS top-100 rồi kết hợp với BM25. Vector tài liệu và chỉ mục được tính sẵn từ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dự đoán BM25 có thất bại với truy vấn này không, tức top-10 của BM25 không có câu hỏi đúng. Gate chỉ nhìn thấy câu hỏi và danh sách BM25, nên dự đoán chất lượng của chính BM25 là việc nó làm được. Khi BM25 thất bại thì chỉ Dense cứu được. Bản đầu học trực tiếp lợi ích của Hybrid bằng Ridge; lợi ích đó phụ thuộc cả phía Dense mà gate không thấy trước.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vận hành chọn trước tỷ lệ truy vấn được mã hóa, ví dụ 50%. Ngưỡng tau là phân vị điểm gate trên các truy vấn đã có, không cần nhãn. Tăng tỷ lệ thì chất lượng gần Hybrid hơn nhưng chậm hơn. Gate được học một lần trên nhiều chủ đề, đặc trưng chuẩn hóa theo thống kê của chính chủ đề đó, nên dùng được cho chủ đề mới không cần gán nhãn.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Dùng đủ 12 chủ đề của CQADupStack, mỗi chủ đề là một diễn đàn hỏi đáp Stack Exchange. Gate được huấn luyện trên 6 chủ đề: programmers, unix, android, gis, mathematica, webmasters. Sau đó gate được đóng băng và đăng ký trước, rồi mới đánh giá trên 6 chủ đề hoàn toàn mới: english, gaming, physics, stats, tex, wordpress. Tốc độ thực tế được đo trên programmers và unix.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Mọi phương pháp chạy trên cùng dữ liệu và cùng máy CPU. Ngoài BM25, Dense và Hybrid, có hai đối chứng quan trọng cho gate: quy tắc chênh điểm BM25 và chọn ngẫu nhiên, cả hai được gọi Dense cùng số lần với PE-GH. Thước đo: nDCG@10, tỷ lệ gọi Dense, thời gian CPU, độ trễ trung bình, p50 và p95.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12064" y="708660"/>
            <a:ext cx="8119872" cy="32004"/>
          </a:xfrm>
          <a:prstGeom prst="rect">
            <a:avLst/>
          </a:prstGeom>
          <a:solidFill>
            <a:srgbClr val="0000AA"/>
          </a:solidFill>
          <a:ln/>
        </p:spPr>
      </p:sp>
      <p:sp>
        <p:nvSpPr>
          <p:cNvPr id="3" name="Text 1"/>
          <p:cNvSpPr/>
          <p:nvPr>
            <p:ph idx="101" type="title" hasCustomPrompt="1"/>
          </p:nvPr>
        </p:nvSpPr>
        <p:spPr>
          <a:xfrm>
            <a:off x="512064" y="128016"/>
            <a:ext cx="8119872" cy="548640"/>
          </a:xfrm>
          <a:prstGeom prst="rect">
            <a:avLst/>
          </a:prstGeom>
          <a:noFill/>
          <a:ln/>
        </p:spPr>
        <p:txBody>
          <a:bodyPr wrap="square" rtlCol="0"/>
          <a:lstStyle>
            <a:lvl1pPr algn="l" indent="0" marL="0">
              <a:buNone/>
              <a:defRPr lang="en-US" sz="2600" b="1" dirty="0">
                <a:solidFill>
                  <a:srgbClr val="004AAD"/>
                </a:solidFill>
                <a:latin typeface="Noto Sans" pitchFamily="34" charset="0"/>
                <a:ea typeface="Noto Sans" pitchFamily="34" charset="-122"/>
                <a:cs typeface="Noto Sans" pitchFamily="34" charset="-120"/>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183880" y="46634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0000"/>
                </a:solidFill>
                <a:latin typeface="Lora"/>
                <a:ea typeface="Lora"/>
                <a:cs typeface="Lora"/>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83880" y="46634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0000"/>
                </a:solidFill>
                <a:latin typeface="Lora"/>
                <a:ea typeface="Lora"/>
                <a:cs typeface="Lora"/>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doi.org/10.1145/3459637.3482159" TargetMode="External"/><Relationship Id="rId2" Type="http://schemas.openxmlformats.org/officeDocument/2006/relationships/hyperlink" Target="https://doi.org/10.2991/978-94-6463-926-1_77" TargetMode="External"/><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Logo Trường Đại học Công nghệ">    </p:cNvPr>
          <p:cNvPicPr>
            <a:picLocks noChangeAspect="1"/>
          </p:cNvPicPr>
          <p:nvPr/>
        </p:nvPicPr>
        <p:blipFill>
          <a:blip r:embed="rId1"/>
          <a:stretch>
            <a:fillRect/>
          </a:stretch>
        </p:blipFill>
        <p:spPr>
          <a:xfrm>
            <a:off x="155448" y="128016"/>
            <a:ext cx="1005840" cy="1005840"/>
          </a:xfrm>
          <a:prstGeom prst="rect">
            <a:avLst/>
          </a:prstGeom>
        </p:spPr>
      </p:pic>
      <p:pic>
        <p:nvPicPr>
          <p:cNvPr id="3" name="Image 1" descr="UET">    </p:cNvPr>
          <p:cNvPicPr>
            <a:picLocks noChangeAspect="1"/>
          </p:cNvPicPr>
          <p:nvPr/>
        </p:nvPicPr>
        <p:blipFill>
          <a:blip r:embed="rId2"/>
          <a:stretch>
            <a:fillRect/>
          </a:stretch>
        </p:blipFill>
        <p:spPr>
          <a:xfrm>
            <a:off x="1289304" y="182880"/>
            <a:ext cx="1225296" cy="438912"/>
          </a:xfrm>
          <a:prstGeom prst="rect">
            <a:avLst/>
          </a:prstGeom>
        </p:spPr>
      </p:pic>
      <p:pic>
        <p:nvPicPr>
          <p:cNvPr id="4" name="Image 2" descr="Đại học Công nghệ, ĐHQGHN">    </p:cNvPr>
          <p:cNvPicPr>
            <a:picLocks noChangeAspect="1"/>
          </p:cNvPicPr>
          <p:nvPr/>
        </p:nvPicPr>
        <p:blipFill>
          <a:blip r:embed="rId3"/>
          <a:stretch>
            <a:fillRect/>
          </a:stretch>
        </p:blipFill>
        <p:spPr>
          <a:xfrm>
            <a:off x="1289304" y="740664"/>
            <a:ext cx="3044952" cy="335585"/>
          </a:xfrm>
          <a:prstGeom prst="rect">
            <a:avLst/>
          </a:prstGeom>
        </p:spPr>
      </p:pic>
      <p:pic>
        <p:nvPicPr>
          <p:cNvPr id="5" name="Image 3" descr="Logo Đại học Quốc gia Hà Nội">    </p:cNvPr>
          <p:cNvPicPr>
            <a:picLocks noChangeAspect="1"/>
          </p:cNvPicPr>
          <p:nvPr/>
        </p:nvPicPr>
        <p:blipFill>
          <a:blip r:embed="rId4"/>
          <a:stretch>
            <a:fillRect/>
          </a:stretch>
        </p:blipFill>
        <p:spPr>
          <a:xfrm>
            <a:off x="6400800" y="155448"/>
            <a:ext cx="2542032" cy="822960"/>
          </a:xfrm>
          <a:prstGeom prst="rect">
            <a:avLst/>
          </a:prstGeom>
        </p:spPr>
      </p:pic>
      <p:sp>
        <p:nvSpPr>
          <p:cNvPr id="6" name="Shape 0"/>
          <p:cNvSpPr/>
          <p:nvPr/>
        </p:nvSpPr>
        <p:spPr>
          <a:xfrm>
            <a:off x="0" y="1207008"/>
            <a:ext cx="4572000" cy="164592"/>
          </a:xfrm>
          <a:prstGeom prst="rect">
            <a:avLst/>
          </a:prstGeom>
          <a:solidFill>
            <a:srgbClr val="0000AA"/>
          </a:solidFill>
          <a:ln/>
        </p:spPr>
      </p:sp>
      <p:sp>
        <p:nvSpPr>
          <p:cNvPr id="7" name="Shape 1"/>
          <p:cNvSpPr/>
          <p:nvPr/>
        </p:nvSpPr>
        <p:spPr>
          <a:xfrm>
            <a:off x="4572000" y="1207008"/>
            <a:ext cx="4572000" cy="164592"/>
          </a:xfrm>
          <a:prstGeom prst="rect">
            <a:avLst/>
          </a:prstGeom>
          <a:solidFill>
            <a:srgbClr val="38761D"/>
          </a:solidFill>
          <a:ln/>
        </p:spPr>
      </p:sp>
      <p:sp>
        <p:nvSpPr>
          <p:cNvPr id="8" name="Text 2"/>
          <p:cNvSpPr txBox="1"/>
          <p:nvPr/>
        </p:nvSpPr>
        <p:spPr>
          <a:xfrm>
            <a:off x="457200" y="1645920"/>
            <a:ext cx="8229600" cy="548640"/>
          </a:xfrm>
          <a:prstGeom prst="rect">
            <a:avLst/>
          </a:prstGeom>
          <a:noFill/>
          <a:ln/>
        </p:spPr>
        <p:txBody>
          <a:bodyPr wrap="square" lIns="0" tIns="0" rIns="0" bIns="0" rtlCol="0" anchor="ctr"/>
          <a:lstStyle/>
          <a:p>
            <a:pPr algn="ctr" indent="0" marL="0">
              <a:lnSpc>
                <a:spcPct val="105000"/>
              </a:lnSpc>
              <a:buNone/>
            </a:pPr>
            <a:r>
              <a:rPr lang="en-US" sz="3000" b="1" dirty="0">
                <a:solidFill>
                  <a:srgbClr val="004AAD"/>
                </a:solidFill>
                <a:latin typeface="Noto Sans" pitchFamily="34" charset="0"/>
                <a:ea typeface="Noto Sans" pitchFamily="34" charset="-122"/>
                <a:cs typeface="Noto Sans" pitchFamily="34" charset="-120"/>
              </a:rPr>
              <a:t>PE-GH</a:t>
            </a:r>
            <a:endParaRPr lang="en-US" sz="3000" dirty="0"/>
          </a:p>
        </p:txBody>
      </p:sp>
      <p:sp>
        <p:nvSpPr>
          <p:cNvPr id="9" name="Text 3"/>
          <p:cNvSpPr txBox="1"/>
          <p:nvPr/>
        </p:nvSpPr>
        <p:spPr>
          <a:xfrm>
            <a:off x="182880" y="2130552"/>
            <a:ext cx="8778240" cy="457200"/>
          </a:xfrm>
          <a:prstGeom prst="rect">
            <a:avLst/>
          </a:prstGeom>
          <a:noFill/>
          <a:ln/>
        </p:spPr>
        <p:txBody>
          <a:bodyPr wrap="square" lIns="0" tIns="0" rIns="0" bIns="0" rtlCol="0" anchor="ctr"/>
          <a:lstStyle/>
          <a:p>
            <a:pPr algn="ctr" indent="0" marL="0">
              <a:lnSpc>
                <a:spcPct val="105000"/>
              </a:lnSpc>
              <a:buNone/>
            </a:pPr>
            <a:r>
              <a:rPr lang="en-US" sz="2300" b="1" dirty="0">
                <a:solidFill>
                  <a:srgbClr val="004AAD"/>
                </a:solidFill>
                <a:latin typeface="Noto Sans" pitchFamily="34" charset="0"/>
                <a:ea typeface="Noto Sans" pitchFamily="34" charset="-122"/>
                <a:cs typeface="Noto Sans" pitchFamily="34" charset="-120"/>
              </a:rPr>
              <a:t>Tìm kiếm câu hỏi kỹ thuật bằng truy xuất lai có chọn lọc</a:t>
            </a:r>
            <a:endParaRPr lang="en-US" sz="2300" dirty="0"/>
          </a:p>
        </p:txBody>
      </p:sp>
      <p:sp>
        <p:nvSpPr>
          <p:cNvPr id="10" name="Text 4"/>
          <p:cNvSpPr txBox="1"/>
          <p:nvPr/>
        </p:nvSpPr>
        <p:spPr>
          <a:xfrm>
            <a:off x="457200" y="2761488"/>
            <a:ext cx="8229600" cy="365760"/>
          </a:xfrm>
          <a:prstGeom prst="rect">
            <a:avLst/>
          </a:prstGeom>
          <a:noFill/>
          <a:ln/>
        </p:spPr>
        <p:txBody>
          <a:bodyPr wrap="square" lIns="0" tIns="0" rIns="0" bIns="0" rtlCol="0" anchor="ctr"/>
          <a:lstStyle/>
          <a:p>
            <a:pPr algn="ctr" indent="0" marL="0">
              <a:lnSpc>
                <a:spcPct val="105000"/>
              </a:lnSpc>
              <a:buNone/>
            </a:pPr>
            <a:r>
              <a:rPr lang="en-US" sz="1800" dirty="0">
                <a:solidFill>
                  <a:srgbClr val="004AAD"/>
                </a:solidFill>
                <a:latin typeface="Noto Sans" pitchFamily="34" charset="0"/>
                <a:ea typeface="Noto Sans" pitchFamily="34" charset="-122"/>
                <a:cs typeface="Noto Sans" pitchFamily="34" charset="-120"/>
              </a:rPr>
              <a:t>Pre-Encoding Gated Hybrid Retrieval</a:t>
            </a:r>
            <a:endParaRPr lang="en-US" sz="1800" dirty="0"/>
          </a:p>
        </p:txBody>
      </p:sp>
      <p:sp>
        <p:nvSpPr>
          <p:cNvPr id="11" name="Text 5"/>
          <p:cNvSpPr txBox="1"/>
          <p:nvPr/>
        </p:nvSpPr>
        <p:spPr>
          <a:xfrm>
            <a:off x="1316736" y="3493008"/>
            <a:ext cx="2331720" cy="329184"/>
          </a:xfrm>
          <a:prstGeom prst="rect">
            <a:avLst/>
          </a:prstGeom>
          <a:noFill/>
          <a:ln/>
        </p:spPr>
        <p:txBody>
          <a:bodyPr wrap="square" lIns="0" tIns="0" rIns="0" bIns="0" rtlCol="0" anchor="ctr"/>
          <a:lstStyle/>
          <a:p>
            <a:pPr indent="0" marL="0">
              <a:lnSpc>
                <a:spcPct val="105000"/>
              </a:lnSpc>
              <a:buNone/>
            </a:pPr>
            <a:r>
              <a:rPr lang="en-US" sz="1850" dirty="0">
                <a:solidFill>
                  <a:srgbClr val="000000"/>
                </a:solidFill>
                <a:latin typeface="Noto Sans" pitchFamily="34" charset="0"/>
                <a:ea typeface="Noto Sans" pitchFamily="34" charset="-122"/>
                <a:cs typeface="Noto Sans" pitchFamily="34" charset="-120"/>
              </a:rPr>
              <a:t>Sinh viên thực hiện:</a:t>
            </a:r>
            <a:endParaRPr lang="en-US" sz="1850" dirty="0"/>
          </a:p>
        </p:txBody>
      </p:sp>
      <p:sp>
        <p:nvSpPr>
          <p:cNvPr id="12" name="Text 6"/>
          <p:cNvSpPr txBox="1"/>
          <p:nvPr/>
        </p:nvSpPr>
        <p:spPr>
          <a:xfrm>
            <a:off x="3675888" y="3493008"/>
            <a:ext cx="2103120" cy="329184"/>
          </a:xfrm>
          <a:prstGeom prst="rect">
            <a:avLst/>
          </a:prstGeom>
          <a:noFill/>
          <a:ln/>
        </p:spPr>
        <p:txBody>
          <a:bodyPr wrap="square" lIns="0" tIns="0" rIns="0" bIns="0" rtlCol="0" anchor="ctr"/>
          <a:lstStyle/>
          <a:p>
            <a:pPr indent="0" marL="0">
              <a:lnSpc>
                <a:spcPct val="105000"/>
              </a:lnSpc>
              <a:buNone/>
            </a:pPr>
            <a:r>
              <a:rPr lang="en-US" sz="1850" dirty="0">
                <a:solidFill>
                  <a:srgbClr val="000000"/>
                </a:solidFill>
                <a:latin typeface="Noto Sans" pitchFamily="34" charset="0"/>
                <a:ea typeface="Noto Sans" pitchFamily="34" charset="-122"/>
                <a:cs typeface="Noto Sans" pitchFamily="34" charset="-120"/>
              </a:rPr>
              <a:t>Đầu Hồng Quang</a:t>
            </a:r>
            <a:endParaRPr lang="en-US" sz="1850" dirty="0"/>
          </a:p>
        </p:txBody>
      </p:sp>
      <p:sp>
        <p:nvSpPr>
          <p:cNvPr id="13" name="Text 7"/>
          <p:cNvSpPr txBox="1"/>
          <p:nvPr/>
        </p:nvSpPr>
        <p:spPr>
          <a:xfrm>
            <a:off x="5843016" y="3493008"/>
            <a:ext cx="2103120" cy="329184"/>
          </a:xfrm>
          <a:prstGeom prst="rect">
            <a:avLst/>
          </a:prstGeom>
          <a:noFill/>
          <a:ln/>
        </p:spPr>
        <p:txBody>
          <a:bodyPr wrap="square" lIns="0" tIns="0" rIns="0" bIns="0" rtlCol="0" anchor="ctr"/>
          <a:lstStyle/>
          <a:p>
            <a:pPr indent="0" marL="0">
              <a:lnSpc>
                <a:spcPct val="105000"/>
              </a:lnSpc>
              <a:buNone/>
            </a:pPr>
            <a:r>
              <a:rPr lang="en-US" sz="1850" dirty="0">
                <a:solidFill>
                  <a:srgbClr val="000000"/>
                </a:solidFill>
                <a:latin typeface="Noto Sans" pitchFamily="34" charset="0"/>
                <a:ea typeface="Noto Sans" pitchFamily="34" charset="-122"/>
                <a:cs typeface="Noto Sans" pitchFamily="34" charset="-120"/>
              </a:rPr>
              <a:t>MSV: 23020135</a:t>
            </a:r>
            <a:endParaRPr lang="en-US" sz="1850" dirty="0"/>
          </a:p>
        </p:txBody>
      </p:sp>
      <p:sp>
        <p:nvSpPr>
          <p:cNvPr id="14" name="Text 8"/>
          <p:cNvSpPr txBox="1"/>
          <p:nvPr/>
        </p:nvSpPr>
        <p:spPr>
          <a:xfrm>
            <a:off x="3675888" y="3822192"/>
            <a:ext cx="2103120" cy="329184"/>
          </a:xfrm>
          <a:prstGeom prst="rect">
            <a:avLst/>
          </a:prstGeom>
          <a:noFill/>
          <a:ln/>
        </p:spPr>
        <p:txBody>
          <a:bodyPr wrap="square" lIns="0" tIns="0" rIns="0" bIns="0" rtlCol="0" anchor="ctr"/>
          <a:lstStyle/>
          <a:p>
            <a:pPr indent="0" marL="0">
              <a:lnSpc>
                <a:spcPct val="105000"/>
              </a:lnSpc>
              <a:buNone/>
            </a:pPr>
            <a:r>
              <a:rPr lang="en-US" sz="1850" dirty="0">
                <a:solidFill>
                  <a:srgbClr val="000000"/>
                </a:solidFill>
                <a:latin typeface="Noto Sans" pitchFamily="34" charset="0"/>
                <a:ea typeface="Noto Sans" pitchFamily="34" charset="-122"/>
                <a:cs typeface="Noto Sans" pitchFamily="34" charset="-120"/>
              </a:rPr>
              <a:t>Trần Quang Thành</a:t>
            </a:r>
            <a:endParaRPr lang="en-US" sz="1850" dirty="0"/>
          </a:p>
        </p:txBody>
      </p:sp>
      <p:sp>
        <p:nvSpPr>
          <p:cNvPr id="15" name="Text 9"/>
          <p:cNvSpPr txBox="1"/>
          <p:nvPr/>
        </p:nvSpPr>
        <p:spPr>
          <a:xfrm>
            <a:off x="5843016" y="3822192"/>
            <a:ext cx="2103120" cy="329184"/>
          </a:xfrm>
          <a:prstGeom prst="rect">
            <a:avLst/>
          </a:prstGeom>
          <a:noFill/>
          <a:ln/>
        </p:spPr>
        <p:txBody>
          <a:bodyPr wrap="square" lIns="0" tIns="0" rIns="0" bIns="0" rtlCol="0" anchor="ctr"/>
          <a:lstStyle/>
          <a:p>
            <a:pPr indent="0" marL="0">
              <a:lnSpc>
                <a:spcPct val="105000"/>
              </a:lnSpc>
              <a:buNone/>
            </a:pPr>
            <a:r>
              <a:rPr lang="en-US" sz="1850" dirty="0">
                <a:solidFill>
                  <a:srgbClr val="000000"/>
                </a:solidFill>
                <a:latin typeface="Noto Sans" pitchFamily="34" charset="0"/>
                <a:ea typeface="Noto Sans" pitchFamily="34" charset="-122"/>
                <a:cs typeface="Noto Sans" pitchFamily="34" charset="-120"/>
              </a:rPr>
              <a:t>MSV: 23020155</a:t>
            </a:r>
            <a:endParaRPr lang="en-US" sz="1850" dirty="0"/>
          </a:p>
        </p:txBody>
      </p:sp>
      <p:sp>
        <p:nvSpPr>
          <p:cNvPr id="16" name="Text 10"/>
          <p:cNvSpPr txBox="1"/>
          <p:nvPr/>
        </p:nvSpPr>
        <p:spPr>
          <a:xfrm>
            <a:off x="3675888" y="4151376"/>
            <a:ext cx="2103120" cy="329184"/>
          </a:xfrm>
          <a:prstGeom prst="rect">
            <a:avLst/>
          </a:prstGeom>
          <a:noFill/>
          <a:ln/>
        </p:spPr>
        <p:txBody>
          <a:bodyPr wrap="square" lIns="0" tIns="0" rIns="0" bIns="0" rtlCol="0" anchor="ctr"/>
          <a:lstStyle/>
          <a:p>
            <a:pPr indent="0" marL="0">
              <a:lnSpc>
                <a:spcPct val="105000"/>
              </a:lnSpc>
              <a:buNone/>
            </a:pPr>
            <a:r>
              <a:rPr lang="en-US" sz="1850" dirty="0">
                <a:solidFill>
                  <a:srgbClr val="000000"/>
                </a:solidFill>
                <a:latin typeface="Noto Sans" pitchFamily="34" charset="0"/>
                <a:ea typeface="Noto Sans" pitchFamily="34" charset="-122"/>
                <a:cs typeface="Noto Sans" pitchFamily="34" charset="-120"/>
              </a:rPr>
              <a:t>Hoàng Quốc Bảo</a:t>
            </a:r>
            <a:endParaRPr lang="en-US" sz="1850" dirty="0"/>
          </a:p>
        </p:txBody>
      </p:sp>
      <p:sp>
        <p:nvSpPr>
          <p:cNvPr id="17" name="Text 11"/>
          <p:cNvSpPr txBox="1"/>
          <p:nvPr/>
        </p:nvSpPr>
        <p:spPr>
          <a:xfrm>
            <a:off x="5843016" y="4151376"/>
            <a:ext cx="2103120" cy="329184"/>
          </a:xfrm>
          <a:prstGeom prst="rect">
            <a:avLst/>
          </a:prstGeom>
          <a:noFill/>
          <a:ln/>
        </p:spPr>
        <p:txBody>
          <a:bodyPr wrap="square" lIns="0" tIns="0" rIns="0" bIns="0" rtlCol="0" anchor="ctr"/>
          <a:lstStyle/>
          <a:p>
            <a:pPr indent="0" marL="0">
              <a:lnSpc>
                <a:spcPct val="105000"/>
              </a:lnSpc>
              <a:buNone/>
            </a:pPr>
            <a:r>
              <a:rPr lang="en-US" sz="1850" dirty="0">
                <a:solidFill>
                  <a:srgbClr val="000000"/>
                </a:solidFill>
                <a:latin typeface="Noto Sans" pitchFamily="34" charset="0"/>
                <a:ea typeface="Noto Sans" pitchFamily="34" charset="-122"/>
                <a:cs typeface="Noto Sans" pitchFamily="34" charset="-120"/>
              </a:rPr>
              <a:t>MSV: 23020012</a:t>
            </a:r>
            <a:endParaRPr lang="en-US" sz="1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12064" y="128016"/>
            <a:ext cx="8119872" cy="548640"/>
          </a:xfrm>
          <a:prstGeom prst="rect">
            <a:avLst/>
          </a:prstGeom>
          <a:noFill/>
          <a:ln/>
        </p:spPr>
        <p:txBody>
          <a:bodyPr wrap="square" lIns="0" tIns="0" rIns="0" bIns="0" rtlCol="0" anchor="b"/>
          <a:lstStyle/>
          <a:p>
            <a:pPr algn="l" indent="0" marL="0">
              <a:buNone/>
            </a:pPr>
            <a:r>
              <a:rPr lang="en-US" sz="2600" b="1" dirty="0">
                <a:solidFill>
                  <a:srgbClr val="004AAD"/>
                </a:solidFill>
                <a:latin typeface="Noto Sans" pitchFamily="34" charset="0"/>
                <a:ea typeface="Noto Sans" pitchFamily="34" charset="-122"/>
                <a:cs typeface="Noto Sans" pitchFamily="34" charset="-120"/>
              </a:rPr>
              <a:t>Nội dung</a:t>
            </a:r>
            <a:endParaRPr lang="en-US" sz="2600" dirty="0"/>
          </a:p>
        </p:txBody>
      </p:sp>
      <p:sp>
        <p:nvSpPr>
          <p:cNvPr id="4" name="Text 1"/>
          <p:cNvSpPr txBox="1"/>
          <p:nvPr/>
        </p:nvSpPr>
        <p:spPr>
          <a:xfrm>
            <a:off x="667512" y="1097280"/>
            <a:ext cx="548640" cy="548640"/>
          </a:xfrm>
          <a:prstGeom prst="rect">
            <a:avLst/>
          </a:prstGeom>
          <a:noFill/>
          <a:ln/>
        </p:spPr>
        <p:txBody>
          <a:bodyPr wrap="square" lIns="0" tIns="0" rIns="0" bIns="0" rtlCol="0" anchor="ctr"/>
          <a:lstStyle/>
          <a:p>
            <a:pPr indent="0" marL="0">
              <a:lnSpc>
                <a:spcPct val="105000"/>
              </a:lnSpc>
              <a:buNone/>
            </a:pPr>
            <a:r>
              <a:rPr lang="en-US" sz="2500" dirty="0">
                <a:solidFill>
                  <a:srgbClr val="004AAD"/>
                </a:solidFill>
                <a:latin typeface="Noto Sans" pitchFamily="34" charset="0"/>
                <a:ea typeface="Noto Sans" pitchFamily="34" charset="-122"/>
                <a:cs typeface="Noto Sans" pitchFamily="34" charset="-120"/>
              </a:rPr>
              <a:t>01</a:t>
            </a:r>
            <a:endParaRPr lang="en-US" sz="2500" dirty="0"/>
          </a:p>
        </p:txBody>
      </p:sp>
      <p:sp>
        <p:nvSpPr>
          <p:cNvPr id="5" name="Text 2"/>
          <p:cNvSpPr txBox="1"/>
          <p:nvPr/>
        </p:nvSpPr>
        <p:spPr>
          <a:xfrm>
            <a:off x="1271016" y="1097280"/>
            <a:ext cx="6400800" cy="548640"/>
          </a:xfrm>
          <a:prstGeom prst="rect">
            <a:avLst/>
          </a:prstGeom>
          <a:noFill/>
          <a:ln/>
        </p:spPr>
        <p:txBody>
          <a:bodyPr wrap="square" lIns="0" tIns="0" rIns="0" bIns="0" rtlCol="0" anchor="ctr"/>
          <a:lstStyle/>
          <a:p>
            <a:pPr indent="0" marL="0">
              <a:lnSpc>
                <a:spcPct val="105000"/>
              </a:lnSpc>
              <a:buNone/>
            </a:pPr>
            <a:r>
              <a:rPr lang="en-US" sz="2500" b="1" dirty="0">
                <a:solidFill>
                  <a:srgbClr val="000000"/>
                </a:solidFill>
                <a:latin typeface="Noto Sans" pitchFamily="34" charset="0"/>
                <a:ea typeface="Noto Sans" pitchFamily="34" charset="-122"/>
                <a:cs typeface="Noto Sans" pitchFamily="34" charset="-120"/>
              </a:rPr>
              <a:t>Bài toán và động lực</a:t>
            </a:r>
            <a:endParaRPr lang="en-US" sz="2500" dirty="0"/>
          </a:p>
        </p:txBody>
      </p:sp>
      <p:sp>
        <p:nvSpPr>
          <p:cNvPr id="6" name="Text 3"/>
          <p:cNvSpPr txBox="1"/>
          <p:nvPr/>
        </p:nvSpPr>
        <p:spPr>
          <a:xfrm>
            <a:off x="667512" y="1938528"/>
            <a:ext cx="548640" cy="548640"/>
          </a:xfrm>
          <a:prstGeom prst="rect">
            <a:avLst/>
          </a:prstGeom>
          <a:noFill/>
          <a:ln/>
        </p:spPr>
        <p:txBody>
          <a:bodyPr wrap="square" lIns="0" tIns="0" rIns="0" bIns="0" rtlCol="0" anchor="ctr"/>
          <a:lstStyle/>
          <a:p>
            <a:pPr indent="0" marL="0">
              <a:lnSpc>
                <a:spcPct val="105000"/>
              </a:lnSpc>
              <a:buNone/>
            </a:pPr>
            <a:r>
              <a:rPr lang="en-US" sz="2500" dirty="0">
                <a:solidFill>
                  <a:srgbClr val="004AAD"/>
                </a:solidFill>
                <a:latin typeface="Noto Sans" pitchFamily="34" charset="0"/>
                <a:ea typeface="Noto Sans" pitchFamily="34" charset="-122"/>
                <a:cs typeface="Noto Sans" pitchFamily="34" charset="-120"/>
              </a:rPr>
              <a:t>02</a:t>
            </a:r>
            <a:endParaRPr lang="en-US" sz="2500" dirty="0"/>
          </a:p>
        </p:txBody>
      </p:sp>
      <p:sp>
        <p:nvSpPr>
          <p:cNvPr id="7" name="Text 4"/>
          <p:cNvSpPr txBox="1"/>
          <p:nvPr/>
        </p:nvSpPr>
        <p:spPr>
          <a:xfrm>
            <a:off x="1271016" y="1938528"/>
            <a:ext cx="6400800" cy="548640"/>
          </a:xfrm>
          <a:prstGeom prst="rect">
            <a:avLst/>
          </a:prstGeom>
          <a:noFill/>
          <a:ln/>
        </p:spPr>
        <p:txBody>
          <a:bodyPr wrap="square" lIns="0" tIns="0" rIns="0" bIns="0" rtlCol="0" anchor="ctr"/>
          <a:lstStyle/>
          <a:p>
            <a:pPr indent="0" marL="0">
              <a:lnSpc>
                <a:spcPct val="105000"/>
              </a:lnSpc>
              <a:buNone/>
            </a:pPr>
            <a:r>
              <a:rPr lang="en-US" sz="2500" b="1" dirty="0">
                <a:solidFill>
                  <a:srgbClr val="000000"/>
                </a:solidFill>
                <a:latin typeface="Noto Sans" pitchFamily="34" charset="0"/>
                <a:ea typeface="Noto Sans" pitchFamily="34" charset="-122"/>
                <a:cs typeface="Noto Sans" pitchFamily="34" charset="-120"/>
              </a:rPr>
              <a:t>Ý tưởng PE-GH</a:t>
            </a:r>
            <a:endParaRPr lang="en-US" sz="2500" dirty="0"/>
          </a:p>
        </p:txBody>
      </p:sp>
      <p:sp>
        <p:nvSpPr>
          <p:cNvPr id="8" name="Text 5"/>
          <p:cNvSpPr txBox="1"/>
          <p:nvPr/>
        </p:nvSpPr>
        <p:spPr>
          <a:xfrm>
            <a:off x="667512" y="2779776"/>
            <a:ext cx="548640" cy="548640"/>
          </a:xfrm>
          <a:prstGeom prst="rect">
            <a:avLst/>
          </a:prstGeom>
          <a:noFill/>
          <a:ln/>
        </p:spPr>
        <p:txBody>
          <a:bodyPr wrap="square" lIns="0" tIns="0" rIns="0" bIns="0" rtlCol="0" anchor="ctr"/>
          <a:lstStyle/>
          <a:p>
            <a:pPr indent="0" marL="0">
              <a:lnSpc>
                <a:spcPct val="105000"/>
              </a:lnSpc>
              <a:buNone/>
            </a:pPr>
            <a:r>
              <a:rPr lang="en-US" sz="2500" dirty="0">
                <a:solidFill>
                  <a:srgbClr val="004AAD"/>
                </a:solidFill>
                <a:latin typeface="Noto Sans" pitchFamily="34" charset="0"/>
                <a:ea typeface="Noto Sans" pitchFamily="34" charset="-122"/>
                <a:cs typeface="Noto Sans" pitchFamily="34" charset="-120"/>
              </a:rPr>
              <a:t>03</a:t>
            </a:r>
            <a:endParaRPr lang="en-US" sz="2500" dirty="0"/>
          </a:p>
        </p:txBody>
      </p:sp>
      <p:sp>
        <p:nvSpPr>
          <p:cNvPr id="9" name="Text 6"/>
          <p:cNvSpPr txBox="1"/>
          <p:nvPr/>
        </p:nvSpPr>
        <p:spPr>
          <a:xfrm>
            <a:off x="1271016" y="2779776"/>
            <a:ext cx="6400800" cy="548640"/>
          </a:xfrm>
          <a:prstGeom prst="rect">
            <a:avLst/>
          </a:prstGeom>
          <a:noFill/>
          <a:ln/>
        </p:spPr>
        <p:txBody>
          <a:bodyPr wrap="square" lIns="0" tIns="0" rIns="0" bIns="0" rtlCol="0" anchor="ctr"/>
          <a:lstStyle/>
          <a:p>
            <a:pPr indent="0" marL="0">
              <a:lnSpc>
                <a:spcPct val="105000"/>
              </a:lnSpc>
              <a:buNone/>
            </a:pPr>
            <a:r>
              <a:rPr lang="en-US" sz="2500" b="1" dirty="0">
                <a:solidFill>
                  <a:srgbClr val="000000"/>
                </a:solidFill>
                <a:latin typeface="Noto Sans" pitchFamily="34" charset="0"/>
                <a:ea typeface="Noto Sans" pitchFamily="34" charset="-122"/>
                <a:cs typeface="Noto Sans" pitchFamily="34" charset="-120"/>
              </a:rPr>
              <a:t>Thiết kế hệ thống</a:t>
            </a:r>
            <a:endParaRPr lang="en-US" sz="2500" dirty="0"/>
          </a:p>
        </p:txBody>
      </p:sp>
      <p:sp>
        <p:nvSpPr>
          <p:cNvPr id="10" name="Text 7"/>
          <p:cNvSpPr txBox="1"/>
          <p:nvPr/>
        </p:nvSpPr>
        <p:spPr>
          <a:xfrm>
            <a:off x="667512" y="3621024"/>
            <a:ext cx="548640" cy="548640"/>
          </a:xfrm>
          <a:prstGeom prst="rect">
            <a:avLst/>
          </a:prstGeom>
          <a:noFill/>
          <a:ln/>
        </p:spPr>
        <p:txBody>
          <a:bodyPr wrap="square" lIns="0" tIns="0" rIns="0" bIns="0" rtlCol="0" anchor="ctr"/>
          <a:lstStyle/>
          <a:p>
            <a:pPr indent="0" marL="0">
              <a:lnSpc>
                <a:spcPct val="105000"/>
              </a:lnSpc>
              <a:buNone/>
            </a:pPr>
            <a:r>
              <a:rPr lang="en-US" sz="2500" dirty="0">
                <a:solidFill>
                  <a:srgbClr val="004AAD"/>
                </a:solidFill>
                <a:latin typeface="Noto Sans" pitchFamily="34" charset="0"/>
                <a:ea typeface="Noto Sans" pitchFamily="34" charset="-122"/>
                <a:cs typeface="Noto Sans" pitchFamily="34" charset="-120"/>
              </a:rPr>
              <a:t>04</a:t>
            </a:r>
            <a:endParaRPr lang="en-US" sz="2500" dirty="0"/>
          </a:p>
        </p:txBody>
      </p:sp>
      <p:sp>
        <p:nvSpPr>
          <p:cNvPr id="11" name="Text 8"/>
          <p:cNvSpPr txBox="1"/>
          <p:nvPr/>
        </p:nvSpPr>
        <p:spPr>
          <a:xfrm>
            <a:off x="1271016" y="3621024"/>
            <a:ext cx="6400800" cy="548640"/>
          </a:xfrm>
          <a:prstGeom prst="rect">
            <a:avLst/>
          </a:prstGeom>
          <a:noFill/>
          <a:ln/>
        </p:spPr>
        <p:txBody>
          <a:bodyPr wrap="square" lIns="0" tIns="0" rIns="0" bIns="0" rtlCol="0" anchor="ctr"/>
          <a:lstStyle/>
          <a:p>
            <a:pPr indent="0" marL="0">
              <a:lnSpc>
                <a:spcPct val="105000"/>
              </a:lnSpc>
              <a:buNone/>
            </a:pPr>
            <a:r>
              <a:rPr lang="en-US" sz="2500" b="1" dirty="0">
                <a:solidFill>
                  <a:srgbClr val="000000"/>
                </a:solidFill>
                <a:latin typeface="Noto Sans" pitchFamily="34" charset="0"/>
                <a:ea typeface="Noto Sans" pitchFamily="34" charset="-122"/>
                <a:cs typeface="Noto Sans" pitchFamily="34" charset="-120"/>
              </a:rPr>
              <a:t>Dữ liệu và cách đánh giá</a:t>
            </a:r>
            <a:endParaRPr lang="en-US" sz="2500" dirty="0"/>
          </a:p>
        </p:txBody>
      </p:sp>
      <p:sp>
        <p:nvSpPr>
          <p:cNvPr id="25" name="Slide Number Placeholder 0"/>
          <p:cNvSpPr>
            <a:spLocks noGrp="1"/>
          </p:cNvSpPr>
          <p:nvPr>
            <p:ph type="sldNum" sz="quarter" idx="4294967295"/>
          </p:nvPr>
        </p:nvSpPr>
        <p:spPr>
          <a:xfrm>
            <a:off x="8183880" y="46634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0000"/>
                </a:solidFill>
                <a:latin typeface="Lora"/>
                <a:ea typeface="Lora"/>
                <a:cs typeface="Lora"/>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12064" y="128016"/>
            <a:ext cx="8119872" cy="548640"/>
          </a:xfrm>
          <a:prstGeom prst="rect">
            <a:avLst/>
          </a:prstGeom>
          <a:noFill/>
          <a:ln/>
        </p:spPr>
        <p:txBody>
          <a:bodyPr wrap="square" lIns="0" tIns="0" rIns="0" bIns="0" rtlCol="0" anchor="b"/>
          <a:lstStyle/>
          <a:p>
            <a:pPr algn="l" indent="0" marL="0">
              <a:buNone/>
            </a:pPr>
            <a:r>
              <a:rPr lang="en-US" sz="2600" b="1" dirty="0">
                <a:solidFill>
                  <a:srgbClr val="004AAD"/>
                </a:solidFill>
                <a:latin typeface="Noto Sans" pitchFamily="34" charset="0"/>
                <a:ea typeface="Noto Sans" pitchFamily="34" charset="-122"/>
                <a:cs typeface="Noto Sans" pitchFamily="34" charset="-120"/>
              </a:rPr>
              <a:t>Bài toán truy xuất câu hỏi kỹ thuật</a:t>
            </a:r>
            <a:endParaRPr lang="en-US" sz="2600" dirty="0"/>
          </a:p>
        </p:txBody>
      </p:sp>
      <p:sp>
        <p:nvSpPr>
          <p:cNvPr id="4" name="Text 1"/>
          <p:cNvSpPr txBox="1"/>
          <p:nvPr/>
        </p:nvSpPr>
        <p:spPr>
          <a:xfrm>
            <a:off x="512064" y="1051560"/>
            <a:ext cx="4114800" cy="365760"/>
          </a:xfrm>
          <a:prstGeom prst="rect">
            <a:avLst/>
          </a:prstGeom>
          <a:noFill/>
          <a:ln/>
        </p:spPr>
        <p:txBody>
          <a:bodyPr wrap="square" lIns="0" tIns="0" rIns="0" bIns="0" rtlCol="0" anchor="t"/>
          <a:lstStyle/>
          <a:p>
            <a:pPr indent="0" marL="0">
              <a:lnSpc>
                <a:spcPct val="105000"/>
              </a:lnSpc>
              <a:buNone/>
            </a:pPr>
            <a:r>
              <a:rPr lang="en-US" sz="2000" b="1" dirty="0">
                <a:solidFill>
                  <a:srgbClr val="004AAD"/>
                </a:solidFill>
                <a:latin typeface="Noto Sans" pitchFamily="34" charset="0"/>
                <a:ea typeface="Noto Sans" pitchFamily="34" charset="-122"/>
                <a:cs typeface="Noto Sans" pitchFamily="34" charset="-120"/>
              </a:rPr>
              <a:t>Câu hỏi minh họa</a:t>
            </a:r>
            <a:endParaRPr lang="en-US" sz="2000" dirty="0"/>
          </a:p>
        </p:txBody>
      </p:sp>
      <p:sp>
        <p:nvSpPr>
          <p:cNvPr id="5" name="Text 2"/>
          <p:cNvSpPr txBox="1"/>
          <p:nvPr/>
        </p:nvSpPr>
        <p:spPr>
          <a:xfrm>
            <a:off x="512064" y="1463040"/>
            <a:ext cx="4023360" cy="594360"/>
          </a:xfrm>
          <a:prstGeom prst="rect">
            <a:avLst/>
          </a:prstGeom>
          <a:noFill/>
          <a:ln/>
        </p:spPr>
        <p:txBody>
          <a:bodyPr wrap="square" lIns="0" tIns="0" rIns="0" bIns="0" rtlCol="0" anchor="t"/>
          <a:lstStyle/>
          <a:p>
            <a:pPr indent="0" marL="0">
              <a:lnSpc>
                <a:spcPct val="105000"/>
              </a:lnSpc>
              <a:buNone/>
            </a:pPr>
            <a:r>
              <a:rPr lang="en-US" sz="1800" dirty="0">
                <a:solidFill>
                  <a:srgbClr val="000000"/>
                </a:solidFill>
                <a:latin typeface="Noto Sans" pitchFamily="34" charset="0"/>
                <a:ea typeface="Noto Sans" pitchFamily="34" charset="-122"/>
                <a:cs typeface="Noto Sans" pitchFamily="34" charset="-120"/>
              </a:rPr>
              <a:t>“How do I change file permissions in Linux?”</a:t>
            </a:r>
            <a:endParaRPr lang="en-US" sz="1800" dirty="0"/>
          </a:p>
        </p:txBody>
      </p:sp>
      <p:sp>
        <p:nvSpPr>
          <p:cNvPr id="6" name="Text 3"/>
          <p:cNvSpPr txBox="1"/>
          <p:nvPr/>
        </p:nvSpPr>
        <p:spPr>
          <a:xfrm>
            <a:off x="512064" y="2240280"/>
            <a:ext cx="4114800" cy="365760"/>
          </a:xfrm>
          <a:prstGeom prst="rect">
            <a:avLst/>
          </a:prstGeom>
          <a:noFill/>
          <a:ln/>
        </p:spPr>
        <p:txBody>
          <a:bodyPr wrap="square" lIns="0" tIns="0" rIns="0" bIns="0" rtlCol="0" anchor="t"/>
          <a:lstStyle/>
          <a:p>
            <a:pPr indent="0" marL="0">
              <a:lnSpc>
                <a:spcPct val="105000"/>
              </a:lnSpc>
              <a:buNone/>
            </a:pPr>
            <a:r>
              <a:rPr lang="en-US" sz="2000" b="1" dirty="0">
                <a:solidFill>
                  <a:srgbClr val="004AAD"/>
                </a:solidFill>
                <a:latin typeface="Noto Sans" pitchFamily="34" charset="0"/>
                <a:ea typeface="Noto Sans" pitchFamily="34" charset="-122"/>
                <a:cs typeface="Noto Sans" pitchFamily="34" charset="-120"/>
              </a:rPr>
              <a:t>Người dùng cần gì?</a:t>
            </a:r>
            <a:endParaRPr lang="en-US" sz="2000" dirty="0"/>
          </a:p>
        </p:txBody>
      </p:sp>
      <p:sp>
        <p:nvSpPr>
          <p:cNvPr id="7" name="Text 4"/>
          <p:cNvSpPr txBox="1"/>
          <p:nvPr/>
        </p:nvSpPr>
        <p:spPr>
          <a:xfrm>
            <a:off x="512064" y="2651760"/>
            <a:ext cx="4023360" cy="914400"/>
          </a:xfrm>
          <a:prstGeom prst="rect">
            <a:avLst/>
          </a:prstGeom>
          <a:noFill/>
          <a:ln/>
        </p:spPr>
        <p:txBody>
          <a:bodyPr wrap="square" lIns="0" tIns="0" rIns="0" bIns="0" rtlCol="0" anchor="t"/>
          <a:lstStyle/>
          <a:p>
            <a:pPr indent="0" marL="0">
              <a:lnSpc>
                <a:spcPct val="105000"/>
              </a:lnSpc>
              <a:buNone/>
            </a:pPr>
            <a:r>
              <a:rPr lang="en-US" sz="1800" dirty="0">
                <a:solidFill>
                  <a:srgbClr val="000000"/>
                </a:solidFill>
                <a:latin typeface="Noto Sans" pitchFamily="34" charset="0"/>
                <a:ea typeface="Noto Sans" pitchFamily="34" charset="-122"/>
                <a:cs typeface="Noto Sans" pitchFamily="34" charset="-120"/>
              </a:rPr>
              <a:t>Tìm những câu hỏi đã có về </a:t>
            </a:r>
            <a:pPr indent="0" marL="0">
              <a:lnSpc>
                <a:spcPct val="105000"/>
              </a:lnSpc>
              <a:buNone/>
            </a:pPr>
            <a:r>
              <a:rPr lang="en-US" sz="1800" dirty="0">
                <a:solidFill>
                  <a:srgbClr val="004AAD"/>
                </a:solidFill>
                <a:latin typeface="Noto Sans" pitchFamily="34" charset="0"/>
                <a:ea typeface="Noto Sans" pitchFamily="34" charset="-122"/>
                <a:cs typeface="Noto Sans" pitchFamily="34" charset="-120"/>
              </a:rPr>
              <a:t>cùng một vấn đề</a:t>
            </a:r>
            <a:pPr indent="0" marL="0">
              <a:lnSpc>
                <a:spcPct val="105000"/>
              </a:lnSpc>
              <a:buNone/>
            </a:pPr>
            <a:r>
              <a:rPr lang="en-US" sz="1800" dirty="0">
                <a:solidFill>
                  <a:srgbClr val="000000"/>
                </a:solidFill>
                <a:latin typeface="Noto Sans" pitchFamily="34" charset="0"/>
                <a:ea typeface="Noto Sans" pitchFamily="34" charset="-122"/>
                <a:cs typeface="Noto Sans" pitchFamily="34" charset="-120"/>
              </a:rPr>
              <a:t>, dù cách diễn đạt khác nhau.</a:t>
            </a:r>
            <a:endParaRPr lang="en-US" sz="1800" dirty="0"/>
          </a:p>
        </p:txBody>
      </p:sp>
      <p:sp>
        <p:nvSpPr>
          <p:cNvPr id="8" name="Text 5"/>
          <p:cNvSpPr txBox="1"/>
          <p:nvPr/>
        </p:nvSpPr>
        <p:spPr>
          <a:xfrm>
            <a:off x="512064" y="3703320"/>
            <a:ext cx="4023360" cy="594360"/>
          </a:xfrm>
          <a:prstGeom prst="rect">
            <a:avLst/>
          </a:prstGeom>
          <a:noFill/>
          <a:ln/>
        </p:spPr>
        <p:txBody>
          <a:bodyPr wrap="square" lIns="0" tIns="0" rIns="0" bIns="0" rtlCol="0" anchor="t"/>
          <a:lstStyle/>
          <a:p>
            <a:pPr indent="0" marL="0">
              <a:lnSpc>
                <a:spcPct val="105000"/>
              </a:lnSpc>
              <a:buNone/>
            </a:pPr>
            <a:r>
              <a:rPr lang="en-US" sz="1400" b="1" dirty="0">
                <a:solidFill>
                  <a:srgbClr val="000000"/>
                </a:solidFill>
                <a:latin typeface="Noto Sans" pitchFamily="34" charset="0"/>
                <a:ea typeface="Noto Sans" pitchFamily="34" charset="-122"/>
                <a:cs typeface="Noto Sans" pitchFamily="34" charset="-120"/>
              </a:rPr>
              <a:t>Đầu ra: </a:t>
            </a:r>
            <a:pPr indent="0" marL="0">
              <a:lnSpc>
                <a:spcPct val="105000"/>
              </a:lnSpc>
              <a:buNone/>
            </a:pPr>
            <a:r>
              <a:rPr lang="en-US" sz="1400" dirty="0">
                <a:solidFill>
                  <a:srgbClr val="000000"/>
                </a:solidFill>
                <a:latin typeface="Noto Sans" pitchFamily="34" charset="0"/>
                <a:ea typeface="Noto Sans" pitchFamily="34" charset="-122"/>
                <a:cs typeface="Noto Sans" pitchFamily="34" charset="-120"/>
              </a:rPr>
              <a:t>tối đa 100 câu hỏi, xếp theo mức độ phù hợp. Hệ thống không sinh câu trả lời.</a:t>
            </a:r>
            <a:endParaRPr lang="en-US" sz="1400" dirty="0"/>
          </a:p>
        </p:txBody>
      </p:sp>
      <p:pic>
        <p:nvPicPr>
          <p:cNvPr id="9" name="Image 0" descr="Minh họa tìm câu hỏi tương tự trong kho">    </p:cNvPr>
          <p:cNvPicPr>
            <a:picLocks noChangeAspect="1"/>
          </p:cNvPicPr>
          <p:nvPr/>
        </p:nvPicPr>
        <p:blipFill>
          <a:blip r:embed="rId1"/>
          <a:stretch>
            <a:fillRect/>
          </a:stretch>
        </p:blipFill>
        <p:spPr>
          <a:xfrm>
            <a:off x="4754880" y="1417320"/>
            <a:ext cx="3877056" cy="2066544"/>
          </a:xfrm>
          <a:prstGeom prst="rect">
            <a:avLst/>
          </a:prstGeom>
        </p:spPr>
      </p:pic>
      <p:sp>
        <p:nvSpPr>
          <p:cNvPr id="25" name="Slide Number Placeholder 0"/>
          <p:cNvSpPr>
            <a:spLocks noGrp="1"/>
          </p:cNvSpPr>
          <p:nvPr>
            <p:ph type="sldNum" sz="quarter" idx="4294967295"/>
          </p:nvPr>
        </p:nvSpPr>
        <p:spPr>
          <a:xfrm>
            <a:off x="8183880" y="46634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0000"/>
                </a:solidFill>
                <a:latin typeface="Lora"/>
                <a:ea typeface="Lora"/>
                <a:cs typeface="Lora"/>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12064" y="128016"/>
            <a:ext cx="8119872" cy="548640"/>
          </a:xfrm>
          <a:prstGeom prst="rect">
            <a:avLst/>
          </a:prstGeom>
          <a:noFill/>
          <a:ln/>
        </p:spPr>
        <p:txBody>
          <a:bodyPr wrap="square" lIns="0" tIns="0" rIns="0" bIns="0" rtlCol="0" anchor="b"/>
          <a:lstStyle/>
          <a:p>
            <a:pPr algn="l" indent="0" marL="0">
              <a:buNone/>
            </a:pPr>
            <a:r>
              <a:rPr lang="en-US" sz="2600" b="1" dirty="0">
                <a:solidFill>
                  <a:srgbClr val="004AAD"/>
                </a:solidFill>
                <a:latin typeface="Noto Sans" pitchFamily="34" charset="0"/>
                <a:ea typeface="Noto Sans" pitchFamily="34" charset="-122"/>
                <a:cs typeface="Noto Sans" pitchFamily="34" charset="-120"/>
              </a:rPr>
              <a:t>Chất lượng và chi phí truy xuất</a:t>
            </a:r>
            <a:endParaRPr lang="en-US" sz="2600" dirty="0"/>
          </a:p>
        </p:txBody>
      </p:sp>
      <p:sp>
        <p:nvSpPr>
          <p:cNvPr id="4" name="Text 1"/>
          <p:cNvSpPr txBox="1"/>
          <p:nvPr/>
        </p:nvSpPr>
        <p:spPr>
          <a:xfrm>
            <a:off x="512064" y="987552"/>
            <a:ext cx="3931920" cy="347472"/>
          </a:xfrm>
          <a:prstGeom prst="rect">
            <a:avLst/>
          </a:prstGeom>
          <a:noFill/>
          <a:ln/>
        </p:spPr>
        <p:txBody>
          <a:bodyPr wrap="square" lIns="0" tIns="0" rIns="0" bIns="0" rtlCol="0" anchor="t"/>
          <a:lstStyle/>
          <a:p>
            <a:pPr indent="0" marL="0">
              <a:lnSpc>
                <a:spcPct val="105000"/>
              </a:lnSpc>
              <a:buNone/>
            </a:pPr>
            <a:r>
              <a:rPr lang="en-US" sz="1900" b="1" dirty="0">
                <a:solidFill>
                  <a:srgbClr val="004AAD"/>
                </a:solidFill>
                <a:latin typeface="Noto Sans" pitchFamily="34" charset="0"/>
                <a:ea typeface="Noto Sans" pitchFamily="34" charset="-122"/>
                <a:cs typeface="Noto Sans" pitchFamily="34" charset="-120"/>
              </a:rPr>
              <a:t>BM25</a:t>
            </a:r>
            <a:endParaRPr lang="en-US" sz="1900" dirty="0"/>
          </a:p>
        </p:txBody>
      </p:sp>
      <p:sp>
        <p:nvSpPr>
          <p:cNvPr id="5" name="Text 2"/>
          <p:cNvSpPr txBox="1"/>
          <p:nvPr/>
        </p:nvSpPr>
        <p:spPr>
          <a:xfrm>
            <a:off x="512064" y="1353312"/>
            <a:ext cx="4069080" cy="777240"/>
          </a:xfrm>
          <a:prstGeom prst="rect">
            <a:avLst/>
          </a:prstGeom>
          <a:noFill/>
          <a:ln/>
        </p:spPr>
        <p:txBody>
          <a:bodyPr wrap="square" lIns="0" tIns="0" rIns="0" bIns="0" rtlCol="0" anchor="t"/>
          <a:lstStyle/>
          <a:p>
            <a:pPr indent="0" marL="0">
              <a:lnSpc>
                <a:spcPct val="105000"/>
              </a:lnSpc>
              <a:buNone/>
            </a:pPr>
            <a:r>
              <a:rPr lang="en-US" sz="1500" dirty="0">
                <a:solidFill>
                  <a:srgbClr val="000000"/>
                </a:solidFill>
                <a:latin typeface="Noto Sans" pitchFamily="34" charset="0"/>
                <a:ea typeface="Noto Sans" pitchFamily="34" charset="-122"/>
                <a:cs typeface="Noto Sans" pitchFamily="34" charset="-120"/>
              </a:rPr>
              <a:t>Khớp từ khóa, rất nhanh. Dễ bỏ sót câu hỏi cùng ý nhưng dùng từ khác.</a:t>
            </a:r>
            <a:endParaRPr lang="en-US" sz="1500" dirty="0"/>
          </a:p>
        </p:txBody>
      </p:sp>
      <p:sp>
        <p:nvSpPr>
          <p:cNvPr id="6" name="Text 3"/>
          <p:cNvSpPr txBox="1"/>
          <p:nvPr/>
        </p:nvSpPr>
        <p:spPr>
          <a:xfrm>
            <a:off x="512064" y="2157984"/>
            <a:ext cx="3931920" cy="347472"/>
          </a:xfrm>
          <a:prstGeom prst="rect">
            <a:avLst/>
          </a:prstGeom>
          <a:noFill/>
          <a:ln/>
        </p:spPr>
        <p:txBody>
          <a:bodyPr wrap="square" lIns="0" tIns="0" rIns="0" bIns="0" rtlCol="0" anchor="t"/>
          <a:lstStyle/>
          <a:p>
            <a:pPr indent="0" marL="0">
              <a:lnSpc>
                <a:spcPct val="105000"/>
              </a:lnSpc>
              <a:buNone/>
            </a:pPr>
            <a:r>
              <a:rPr lang="en-US" sz="1900" b="1" dirty="0">
                <a:solidFill>
                  <a:srgbClr val="004AAD"/>
                </a:solidFill>
                <a:latin typeface="Noto Sans" pitchFamily="34" charset="0"/>
                <a:ea typeface="Noto Sans" pitchFamily="34" charset="-122"/>
                <a:cs typeface="Noto Sans" pitchFamily="34" charset="-120"/>
              </a:rPr>
              <a:t>Dense</a:t>
            </a:r>
            <a:endParaRPr lang="en-US" sz="1900" dirty="0"/>
          </a:p>
        </p:txBody>
      </p:sp>
      <p:sp>
        <p:nvSpPr>
          <p:cNvPr id="7" name="Text 4"/>
          <p:cNvSpPr txBox="1"/>
          <p:nvPr/>
        </p:nvSpPr>
        <p:spPr>
          <a:xfrm>
            <a:off x="512064" y="2523744"/>
            <a:ext cx="4069080" cy="777240"/>
          </a:xfrm>
          <a:prstGeom prst="rect">
            <a:avLst/>
          </a:prstGeom>
          <a:noFill/>
          <a:ln/>
        </p:spPr>
        <p:txBody>
          <a:bodyPr wrap="square" lIns="0" tIns="0" rIns="0" bIns="0" rtlCol="0" anchor="t"/>
          <a:lstStyle/>
          <a:p>
            <a:pPr indent="0" marL="0">
              <a:lnSpc>
                <a:spcPct val="105000"/>
              </a:lnSpc>
              <a:buNone/>
            </a:pPr>
            <a:r>
              <a:rPr lang="en-US" sz="1500" dirty="0">
                <a:solidFill>
                  <a:srgbClr val="000000"/>
                </a:solidFill>
                <a:latin typeface="Noto Sans" pitchFamily="34" charset="0"/>
                <a:ea typeface="Noto Sans" pitchFamily="34" charset="-122"/>
                <a:cs typeface="Noto Sans" pitchFamily="34" charset="-120"/>
              </a:rPr>
              <a:t>Tìm theo ngữ nghĩa. Mỗi truy vấn phải mã hóa bằng transformer rồi tìm vector: bước tốn nhất trên CPU.</a:t>
            </a:r>
            <a:endParaRPr lang="en-US" sz="1500" dirty="0"/>
          </a:p>
        </p:txBody>
      </p:sp>
      <p:sp>
        <p:nvSpPr>
          <p:cNvPr id="8" name="Text 5"/>
          <p:cNvSpPr txBox="1"/>
          <p:nvPr/>
        </p:nvSpPr>
        <p:spPr>
          <a:xfrm>
            <a:off x="512064" y="3328416"/>
            <a:ext cx="3931920" cy="347472"/>
          </a:xfrm>
          <a:prstGeom prst="rect">
            <a:avLst/>
          </a:prstGeom>
          <a:noFill/>
          <a:ln/>
        </p:spPr>
        <p:txBody>
          <a:bodyPr wrap="square" lIns="0" tIns="0" rIns="0" bIns="0" rtlCol="0" anchor="t"/>
          <a:lstStyle/>
          <a:p>
            <a:pPr indent="0" marL="0">
              <a:lnSpc>
                <a:spcPct val="105000"/>
              </a:lnSpc>
              <a:buNone/>
            </a:pPr>
            <a:r>
              <a:rPr lang="en-US" sz="1900" b="1" dirty="0">
                <a:solidFill>
                  <a:srgbClr val="004AAD"/>
                </a:solidFill>
                <a:latin typeface="Noto Sans" pitchFamily="34" charset="0"/>
                <a:ea typeface="Noto Sans" pitchFamily="34" charset="-122"/>
                <a:cs typeface="Noto Sans" pitchFamily="34" charset="-120"/>
              </a:rPr>
              <a:t>Hybrid</a:t>
            </a:r>
            <a:endParaRPr lang="en-US" sz="1900" dirty="0"/>
          </a:p>
        </p:txBody>
      </p:sp>
      <p:sp>
        <p:nvSpPr>
          <p:cNvPr id="9" name="Text 6"/>
          <p:cNvSpPr txBox="1"/>
          <p:nvPr/>
        </p:nvSpPr>
        <p:spPr>
          <a:xfrm>
            <a:off x="512064" y="3694176"/>
            <a:ext cx="4069080" cy="777240"/>
          </a:xfrm>
          <a:prstGeom prst="rect">
            <a:avLst/>
          </a:prstGeom>
          <a:noFill/>
          <a:ln/>
        </p:spPr>
        <p:txBody>
          <a:bodyPr wrap="square" lIns="0" tIns="0" rIns="0" bIns="0" rtlCol="0" anchor="t"/>
          <a:lstStyle/>
          <a:p>
            <a:pPr indent="0" marL="0">
              <a:lnSpc>
                <a:spcPct val="105000"/>
              </a:lnSpc>
              <a:buNone/>
            </a:pPr>
            <a:r>
              <a:rPr lang="en-US" sz="1500" dirty="0">
                <a:solidFill>
                  <a:srgbClr val="000000"/>
                </a:solidFill>
                <a:latin typeface="Noto Sans" pitchFamily="34" charset="0"/>
                <a:ea typeface="Noto Sans" pitchFamily="34" charset="-122"/>
                <a:cs typeface="Noto Sans" pitchFamily="34" charset="-120"/>
              </a:rPr>
              <a:t>Kết hợp cả hai, thường xếp hạng tốt hơn, nhưng trả toàn bộ chi phí Dense cho mọi truy vấn.</a:t>
            </a:r>
            <a:endParaRPr lang="en-US" sz="1500" dirty="0"/>
          </a:p>
        </p:txBody>
      </p:sp>
      <p:sp>
        <p:nvSpPr>
          <p:cNvPr id="10" name="Shape 7"/>
          <p:cNvSpPr/>
          <p:nvPr/>
        </p:nvSpPr>
        <p:spPr>
          <a:xfrm>
            <a:off x="4800600" y="1005840"/>
            <a:ext cx="3794760" cy="566928"/>
          </a:xfrm>
          <a:prstGeom prst="rect">
            <a:avLst/>
          </a:prstGeom>
          <a:solidFill>
            <a:srgbClr val="F7F9FC"/>
          </a:solidFill>
          <a:ln w="15875">
            <a:solidFill>
              <a:srgbClr val="004AAD"/>
            </a:solidFill>
            <a:prstDash val="solid"/>
          </a:ln>
        </p:spPr>
      </p:sp>
      <p:sp>
        <p:nvSpPr>
          <p:cNvPr id="11" name="Text 8"/>
          <p:cNvSpPr txBox="1"/>
          <p:nvPr/>
        </p:nvSpPr>
        <p:spPr>
          <a:xfrm>
            <a:off x="4800600" y="1005840"/>
            <a:ext cx="3794760" cy="566928"/>
          </a:xfrm>
          <a:prstGeom prst="rect">
            <a:avLst/>
          </a:prstGeom>
          <a:noFill/>
          <a:ln/>
        </p:spPr>
        <p:txBody>
          <a:bodyPr wrap="square" lIns="0" tIns="0" rIns="0" bIns="0" rtlCol="0" anchor="ctr"/>
          <a:lstStyle/>
          <a:p>
            <a:pPr algn="ctr" indent="0" marL="0">
              <a:lnSpc>
                <a:spcPct val="105000"/>
              </a:lnSpc>
              <a:buNone/>
            </a:pPr>
            <a:r>
              <a:rPr lang="en-US" sz="1100" dirty="0">
                <a:solidFill>
                  <a:srgbClr val="004AAD"/>
                </a:solidFill>
                <a:latin typeface="Arial" pitchFamily="34" charset="0"/>
                <a:ea typeface="Arial" pitchFamily="34" charset="-122"/>
                <a:cs typeface="Arial" pitchFamily="34" charset="-120"/>
              </a:rPr>
              <a:t>TRUY VẤN MINH HỌA</a:t>
            </a:r>
            <a:endParaRPr lang="en-US" sz="1100" dirty="0"/>
          </a:p>
          <a:p>
            <a:pPr algn="ctr" indent="0" marL="0">
              <a:lnSpc>
                <a:spcPct val="105000"/>
              </a:lnSpc>
              <a:buNone/>
            </a:pPr>
            <a:r>
              <a:rPr lang="en-US" sz="1500" dirty="0">
                <a:solidFill>
                  <a:srgbClr val="161616"/>
                </a:solidFill>
                <a:latin typeface="Arial" pitchFamily="34" charset="0"/>
                <a:ea typeface="Arial" pitchFamily="34" charset="-122"/>
                <a:cs typeface="Arial" pitchFamily="34" charset="-120"/>
              </a:rPr>
              <a:t>change file permissions</a:t>
            </a:r>
            <a:endParaRPr lang="en-US" sz="1100" dirty="0"/>
          </a:p>
        </p:txBody>
      </p:sp>
      <p:sp>
        <p:nvSpPr>
          <p:cNvPr id="12" name="Shape 9"/>
          <p:cNvSpPr/>
          <p:nvPr/>
        </p:nvSpPr>
        <p:spPr>
          <a:xfrm>
            <a:off x="6697980" y="1572768"/>
            <a:ext cx="0" cy="182880"/>
          </a:xfrm>
          <a:prstGeom prst="line">
            <a:avLst/>
          </a:prstGeom>
          <a:noFill/>
          <a:ln w="19050">
            <a:solidFill>
              <a:srgbClr val="5F6670"/>
            </a:solidFill>
            <a:prstDash val="solid"/>
          </a:ln>
        </p:spPr>
      </p:sp>
      <p:sp>
        <p:nvSpPr>
          <p:cNvPr id="13" name="Shape 10"/>
          <p:cNvSpPr/>
          <p:nvPr/>
        </p:nvSpPr>
        <p:spPr>
          <a:xfrm>
            <a:off x="5692140" y="1755648"/>
            <a:ext cx="2011680" cy="0"/>
          </a:xfrm>
          <a:prstGeom prst="line">
            <a:avLst/>
          </a:prstGeom>
          <a:noFill/>
          <a:ln w="19050">
            <a:solidFill>
              <a:srgbClr val="5F6670"/>
            </a:solidFill>
            <a:prstDash val="solid"/>
          </a:ln>
        </p:spPr>
      </p:sp>
      <p:sp>
        <p:nvSpPr>
          <p:cNvPr id="14" name="Shape 11"/>
          <p:cNvSpPr/>
          <p:nvPr/>
        </p:nvSpPr>
        <p:spPr>
          <a:xfrm>
            <a:off x="5692140" y="1755648"/>
            <a:ext cx="0" cy="210312"/>
          </a:xfrm>
          <a:prstGeom prst="line">
            <a:avLst/>
          </a:prstGeom>
          <a:noFill/>
          <a:ln w="19050">
            <a:solidFill>
              <a:srgbClr val="5F6670"/>
            </a:solidFill>
            <a:prstDash val="solid"/>
            <a:tailEnd type="triangle"/>
          </a:ln>
        </p:spPr>
      </p:sp>
      <p:sp>
        <p:nvSpPr>
          <p:cNvPr id="15" name="Shape 12"/>
          <p:cNvSpPr/>
          <p:nvPr/>
        </p:nvSpPr>
        <p:spPr>
          <a:xfrm>
            <a:off x="7703820" y="1755648"/>
            <a:ext cx="0" cy="210312"/>
          </a:xfrm>
          <a:prstGeom prst="line">
            <a:avLst/>
          </a:prstGeom>
          <a:noFill/>
          <a:ln w="19050">
            <a:solidFill>
              <a:srgbClr val="5F6670"/>
            </a:solidFill>
            <a:prstDash val="solid"/>
            <a:tailEnd type="triangle"/>
          </a:ln>
        </p:spPr>
      </p:sp>
      <p:sp>
        <p:nvSpPr>
          <p:cNvPr id="16" name="Shape 13"/>
          <p:cNvSpPr/>
          <p:nvPr/>
        </p:nvSpPr>
        <p:spPr>
          <a:xfrm>
            <a:off x="4800600" y="1965960"/>
            <a:ext cx="1783080" cy="603504"/>
          </a:xfrm>
          <a:prstGeom prst="rect">
            <a:avLst/>
          </a:prstGeom>
          <a:solidFill>
            <a:srgbClr val="FFFFFF"/>
          </a:solidFill>
          <a:ln w="15875">
            <a:solidFill>
              <a:srgbClr val="004AAD"/>
            </a:solidFill>
            <a:prstDash val="solid"/>
          </a:ln>
        </p:spPr>
      </p:sp>
      <p:sp>
        <p:nvSpPr>
          <p:cNvPr id="17" name="Text 14"/>
          <p:cNvSpPr txBox="1"/>
          <p:nvPr/>
        </p:nvSpPr>
        <p:spPr>
          <a:xfrm>
            <a:off x="4800600" y="1965960"/>
            <a:ext cx="1783080" cy="603504"/>
          </a:xfrm>
          <a:prstGeom prst="rect">
            <a:avLst/>
          </a:prstGeom>
          <a:noFill/>
          <a:ln/>
        </p:spPr>
        <p:txBody>
          <a:bodyPr wrap="square" lIns="0" tIns="0" rIns="0" bIns="0" rtlCol="0" anchor="ctr"/>
          <a:lstStyle/>
          <a:p>
            <a:pPr algn="ctr" indent="0" marL="0">
              <a:lnSpc>
                <a:spcPct val="105000"/>
              </a:lnSpc>
              <a:buNone/>
            </a:pPr>
            <a:r>
              <a:rPr lang="en-US" sz="1600" b="1" dirty="0">
                <a:solidFill>
                  <a:srgbClr val="004AAD"/>
                </a:solidFill>
                <a:latin typeface="Arial" pitchFamily="34" charset="0"/>
                <a:ea typeface="Arial" pitchFamily="34" charset="-122"/>
                <a:cs typeface="Arial" pitchFamily="34" charset="-120"/>
              </a:rPr>
              <a:t>BM25</a:t>
            </a:r>
            <a:endParaRPr lang="en-US" sz="1600" dirty="0"/>
          </a:p>
          <a:p>
            <a:pPr algn="ctr" indent="0" marL="0">
              <a:lnSpc>
                <a:spcPct val="105000"/>
              </a:lnSpc>
              <a:buNone/>
            </a:pPr>
            <a:r>
              <a:rPr lang="en-US" sz="1200" dirty="0">
                <a:solidFill>
                  <a:srgbClr val="161616"/>
                </a:solidFill>
                <a:latin typeface="Arial" pitchFamily="34" charset="0"/>
                <a:ea typeface="Arial" pitchFamily="34" charset="-122"/>
                <a:cs typeface="Arial" pitchFamily="34" charset="-120"/>
              </a:rPr>
              <a:t>Khớp từ khóa · rẻ</a:t>
            </a:r>
            <a:endParaRPr lang="en-US" sz="1600" dirty="0"/>
          </a:p>
        </p:txBody>
      </p:sp>
      <p:sp>
        <p:nvSpPr>
          <p:cNvPr id="18" name="Shape 15"/>
          <p:cNvSpPr/>
          <p:nvPr/>
        </p:nvSpPr>
        <p:spPr>
          <a:xfrm>
            <a:off x="6812280" y="1965960"/>
            <a:ext cx="1783080" cy="603504"/>
          </a:xfrm>
          <a:prstGeom prst="rect">
            <a:avLst/>
          </a:prstGeom>
          <a:solidFill>
            <a:srgbClr val="FFFFFF"/>
          </a:solidFill>
          <a:ln w="15875">
            <a:solidFill>
              <a:srgbClr val="347A1C"/>
            </a:solidFill>
            <a:prstDash val="solid"/>
          </a:ln>
        </p:spPr>
      </p:sp>
      <p:sp>
        <p:nvSpPr>
          <p:cNvPr id="19" name="Text 16"/>
          <p:cNvSpPr txBox="1"/>
          <p:nvPr/>
        </p:nvSpPr>
        <p:spPr>
          <a:xfrm>
            <a:off x="6812280" y="1965960"/>
            <a:ext cx="1783080" cy="603504"/>
          </a:xfrm>
          <a:prstGeom prst="rect">
            <a:avLst/>
          </a:prstGeom>
          <a:noFill/>
          <a:ln/>
        </p:spPr>
        <p:txBody>
          <a:bodyPr wrap="square" lIns="0" tIns="0" rIns="0" bIns="0" rtlCol="0" anchor="ctr"/>
          <a:lstStyle/>
          <a:p>
            <a:pPr algn="ctr" indent="0" marL="0">
              <a:lnSpc>
                <a:spcPct val="105000"/>
              </a:lnSpc>
              <a:buNone/>
            </a:pPr>
            <a:r>
              <a:rPr lang="en-US" sz="1600" b="1" dirty="0">
                <a:solidFill>
                  <a:srgbClr val="347A1C"/>
                </a:solidFill>
                <a:latin typeface="Arial" pitchFamily="34" charset="0"/>
                <a:ea typeface="Arial" pitchFamily="34" charset="-122"/>
                <a:cs typeface="Arial" pitchFamily="34" charset="-120"/>
              </a:rPr>
              <a:t>Dense</a:t>
            </a:r>
            <a:endParaRPr lang="en-US" sz="1600" dirty="0"/>
          </a:p>
          <a:p>
            <a:pPr algn="ctr" indent="0" marL="0">
              <a:lnSpc>
                <a:spcPct val="105000"/>
              </a:lnSpc>
              <a:buNone/>
            </a:pPr>
            <a:r>
              <a:rPr lang="en-US" sz="1200" dirty="0">
                <a:solidFill>
                  <a:srgbClr val="161616"/>
                </a:solidFill>
                <a:latin typeface="Arial" pitchFamily="34" charset="0"/>
                <a:ea typeface="Arial" pitchFamily="34" charset="-122"/>
                <a:cs typeface="Arial" pitchFamily="34" charset="-120"/>
              </a:rPr>
              <a:t>So vector ngữ nghĩa · đắt</a:t>
            </a:r>
            <a:endParaRPr lang="en-US" sz="1600" dirty="0"/>
          </a:p>
        </p:txBody>
      </p:sp>
      <p:sp>
        <p:nvSpPr>
          <p:cNvPr id="20" name="Shape 17"/>
          <p:cNvSpPr/>
          <p:nvPr/>
        </p:nvSpPr>
        <p:spPr>
          <a:xfrm>
            <a:off x="5692140" y="2569464"/>
            <a:ext cx="0" cy="173736"/>
          </a:xfrm>
          <a:prstGeom prst="line">
            <a:avLst/>
          </a:prstGeom>
          <a:noFill/>
          <a:ln w="19050">
            <a:solidFill>
              <a:srgbClr val="5F6670"/>
            </a:solidFill>
            <a:prstDash val="solid"/>
            <a:tailEnd type="triangle"/>
          </a:ln>
        </p:spPr>
      </p:sp>
      <p:sp>
        <p:nvSpPr>
          <p:cNvPr id="21" name="Shape 18"/>
          <p:cNvSpPr/>
          <p:nvPr/>
        </p:nvSpPr>
        <p:spPr>
          <a:xfrm>
            <a:off x="7703820" y="2569464"/>
            <a:ext cx="0" cy="173736"/>
          </a:xfrm>
          <a:prstGeom prst="line">
            <a:avLst/>
          </a:prstGeom>
          <a:noFill/>
          <a:ln w="19050">
            <a:solidFill>
              <a:srgbClr val="5F6670"/>
            </a:solidFill>
            <a:prstDash val="solid"/>
            <a:tailEnd type="triangle"/>
          </a:ln>
        </p:spPr>
      </p:sp>
      <p:sp>
        <p:nvSpPr>
          <p:cNvPr id="22" name="Shape 19"/>
          <p:cNvSpPr/>
          <p:nvPr/>
        </p:nvSpPr>
        <p:spPr>
          <a:xfrm>
            <a:off x="4800600" y="2743200"/>
            <a:ext cx="1783080" cy="566928"/>
          </a:xfrm>
          <a:prstGeom prst="rect">
            <a:avLst/>
          </a:prstGeom>
          <a:solidFill>
            <a:srgbClr val="F0F5FC"/>
          </a:solidFill>
          <a:ln/>
        </p:spPr>
      </p:sp>
      <p:sp>
        <p:nvSpPr>
          <p:cNvPr id="23" name="Text 20"/>
          <p:cNvSpPr txBox="1"/>
          <p:nvPr/>
        </p:nvSpPr>
        <p:spPr>
          <a:xfrm>
            <a:off x="4800600" y="2743200"/>
            <a:ext cx="1783080" cy="566928"/>
          </a:xfrm>
          <a:prstGeom prst="rect">
            <a:avLst/>
          </a:prstGeom>
          <a:noFill/>
          <a:ln/>
        </p:spPr>
        <p:txBody>
          <a:bodyPr wrap="square" lIns="0" tIns="0" rIns="0" bIns="0" rtlCol="0" anchor="ctr"/>
          <a:lstStyle/>
          <a:p>
            <a:pPr algn="ctr" indent="0" marL="0">
              <a:lnSpc>
                <a:spcPct val="105000"/>
              </a:lnSpc>
              <a:buNone/>
            </a:pPr>
            <a:r>
              <a:rPr lang="en-US" sz="1100" dirty="0">
                <a:solidFill>
                  <a:srgbClr val="595959"/>
                </a:solidFill>
                <a:latin typeface="Arial" pitchFamily="34" charset="0"/>
                <a:ea typeface="Arial" pitchFamily="34" charset="-122"/>
                <a:cs typeface="Arial" pitchFamily="34" charset="-120"/>
              </a:rPr>
              <a:t>Tín hiệu trùng từ</a:t>
            </a:r>
            <a:endParaRPr lang="en-US" sz="1100" dirty="0"/>
          </a:p>
          <a:p>
            <a:pPr algn="ctr" indent="0" marL="0">
              <a:lnSpc>
                <a:spcPct val="105000"/>
              </a:lnSpc>
              <a:buNone/>
            </a:pPr>
            <a:r>
              <a:rPr lang="en-US" sz="1300" dirty="0">
                <a:solidFill>
                  <a:srgbClr val="004AAD"/>
                </a:solidFill>
                <a:latin typeface="Arial" pitchFamily="34" charset="0"/>
                <a:ea typeface="Arial" pitchFamily="34" charset="-122"/>
                <a:cs typeface="Arial" pitchFamily="34" charset="-120"/>
              </a:rPr>
              <a:t>file · permissions</a:t>
            </a:r>
            <a:endParaRPr lang="en-US" sz="1100" dirty="0"/>
          </a:p>
        </p:txBody>
      </p:sp>
      <p:sp>
        <p:nvSpPr>
          <p:cNvPr id="24" name="Shape 21"/>
          <p:cNvSpPr/>
          <p:nvPr/>
        </p:nvSpPr>
        <p:spPr>
          <a:xfrm>
            <a:off x="6812280" y="2743200"/>
            <a:ext cx="1783080" cy="566928"/>
          </a:xfrm>
          <a:prstGeom prst="rect">
            <a:avLst/>
          </a:prstGeom>
          <a:solidFill>
            <a:srgbClr val="EEF6EA"/>
          </a:solidFill>
          <a:ln/>
        </p:spPr>
      </p:sp>
      <p:sp>
        <p:nvSpPr>
          <p:cNvPr id="25" name="Text 22"/>
          <p:cNvSpPr txBox="1"/>
          <p:nvPr/>
        </p:nvSpPr>
        <p:spPr>
          <a:xfrm>
            <a:off x="6812280" y="2743200"/>
            <a:ext cx="1783080" cy="566928"/>
          </a:xfrm>
          <a:prstGeom prst="rect">
            <a:avLst/>
          </a:prstGeom>
          <a:noFill/>
          <a:ln/>
        </p:spPr>
        <p:txBody>
          <a:bodyPr wrap="square" lIns="0" tIns="0" rIns="0" bIns="0" rtlCol="0" anchor="ctr"/>
          <a:lstStyle/>
          <a:p>
            <a:pPr algn="ctr" indent="0" marL="0">
              <a:lnSpc>
                <a:spcPct val="105000"/>
              </a:lnSpc>
              <a:buNone/>
            </a:pPr>
            <a:r>
              <a:rPr lang="en-US" sz="1100" dirty="0">
                <a:solidFill>
                  <a:srgbClr val="595959"/>
                </a:solidFill>
                <a:latin typeface="Arial" pitchFamily="34" charset="0"/>
                <a:ea typeface="Arial" pitchFamily="34" charset="-122"/>
                <a:cs typeface="Arial" pitchFamily="34" charset="-120"/>
              </a:rPr>
              <a:t>Có thể gần nghĩa với</a:t>
            </a:r>
            <a:endParaRPr lang="en-US" sz="1100" dirty="0"/>
          </a:p>
          <a:p>
            <a:pPr algn="ctr" indent="0" marL="0">
              <a:lnSpc>
                <a:spcPct val="105000"/>
              </a:lnSpc>
              <a:buNone/>
            </a:pPr>
            <a:r>
              <a:rPr lang="en-US" sz="1300" dirty="0">
                <a:solidFill>
                  <a:srgbClr val="347A1C"/>
                </a:solidFill>
                <a:latin typeface="Arial" pitchFamily="34" charset="0"/>
                <a:ea typeface="Arial" pitchFamily="34" charset="-122"/>
                <a:cs typeface="Arial" pitchFamily="34" charset="-120"/>
              </a:rPr>
              <a:t>chmod · access rights</a:t>
            </a:r>
            <a:endParaRPr lang="en-US" sz="1100" dirty="0"/>
          </a:p>
        </p:txBody>
      </p:sp>
      <p:sp>
        <p:nvSpPr>
          <p:cNvPr id="26" name="Shape 23"/>
          <p:cNvSpPr/>
          <p:nvPr/>
        </p:nvSpPr>
        <p:spPr>
          <a:xfrm>
            <a:off x="5692140" y="3310128"/>
            <a:ext cx="0" cy="164592"/>
          </a:xfrm>
          <a:prstGeom prst="line">
            <a:avLst/>
          </a:prstGeom>
          <a:noFill/>
          <a:ln w="19050">
            <a:solidFill>
              <a:srgbClr val="5F6670"/>
            </a:solidFill>
            <a:prstDash val="solid"/>
          </a:ln>
        </p:spPr>
      </p:sp>
      <p:sp>
        <p:nvSpPr>
          <p:cNvPr id="27" name="Shape 24"/>
          <p:cNvSpPr/>
          <p:nvPr/>
        </p:nvSpPr>
        <p:spPr>
          <a:xfrm>
            <a:off x="7703820" y="3310128"/>
            <a:ext cx="0" cy="164592"/>
          </a:xfrm>
          <a:prstGeom prst="line">
            <a:avLst/>
          </a:prstGeom>
          <a:noFill/>
          <a:ln w="19050">
            <a:solidFill>
              <a:srgbClr val="5F6670"/>
            </a:solidFill>
            <a:prstDash val="solid"/>
          </a:ln>
        </p:spPr>
      </p:sp>
      <p:sp>
        <p:nvSpPr>
          <p:cNvPr id="28" name="Shape 25"/>
          <p:cNvSpPr/>
          <p:nvPr/>
        </p:nvSpPr>
        <p:spPr>
          <a:xfrm>
            <a:off x="5692140" y="3474720"/>
            <a:ext cx="2011680" cy="0"/>
          </a:xfrm>
          <a:prstGeom prst="line">
            <a:avLst/>
          </a:prstGeom>
          <a:noFill/>
          <a:ln w="19050">
            <a:solidFill>
              <a:srgbClr val="5F6670"/>
            </a:solidFill>
            <a:prstDash val="solid"/>
          </a:ln>
        </p:spPr>
      </p:sp>
      <p:sp>
        <p:nvSpPr>
          <p:cNvPr id="29" name="Shape 26"/>
          <p:cNvSpPr/>
          <p:nvPr/>
        </p:nvSpPr>
        <p:spPr>
          <a:xfrm>
            <a:off x="6697980" y="3474720"/>
            <a:ext cx="0" cy="182880"/>
          </a:xfrm>
          <a:prstGeom prst="line">
            <a:avLst/>
          </a:prstGeom>
          <a:noFill/>
          <a:ln w="19050">
            <a:solidFill>
              <a:srgbClr val="5F6670"/>
            </a:solidFill>
            <a:prstDash val="solid"/>
            <a:tailEnd type="triangle"/>
          </a:ln>
        </p:spPr>
      </p:sp>
      <p:sp>
        <p:nvSpPr>
          <p:cNvPr id="30" name="Shape 27"/>
          <p:cNvSpPr/>
          <p:nvPr/>
        </p:nvSpPr>
        <p:spPr>
          <a:xfrm>
            <a:off x="5486400" y="3657600"/>
            <a:ext cx="2423160" cy="603504"/>
          </a:xfrm>
          <a:prstGeom prst="rect">
            <a:avLst/>
          </a:prstGeom>
          <a:solidFill>
            <a:srgbClr val="004AAD"/>
          </a:solidFill>
          <a:ln/>
        </p:spPr>
      </p:sp>
      <p:sp>
        <p:nvSpPr>
          <p:cNvPr id="31" name="Text 28"/>
          <p:cNvSpPr txBox="1"/>
          <p:nvPr/>
        </p:nvSpPr>
        <p:spPr>
          <a:xfrm>
            <a:off x="5486400" y="3657600"/>
            <a:ext cx="2423160" cy="603504"/>
          </a:xfrm>
          <a:prstGeom prst="rect">
            <a:avLst/>
          </a:prstGeom>
          <a:noFill/>
          <a:ln/>
        </p:spPr>
        <p:txBody>
          <a:bodyPr wrap="square" lIns="0" tIns="0" rIns="0" bIns="0" rtlCol="0" anchor="ctr"/>
          <a:lstStyle/>
          <a:p>
            <a:pPr algn="ctr" indent="0" marL="0">
              <a:lnSpc>
                <a:spcPct val="105000"/>
              </a:lnSpc>
              <a:buNone/>
            </a:pPr>
            <a:r>
              <a:rPr lang="en-US" sz="1600" b="1" dirty="0">
                <a:solidFill>
                  <a:srgbClr val="FFFFFF"/>
                </a:solidFill>
                <a:latin typeface="Arial" pitchFamily="34" charset="0"/>
                <a:ea typeface="Arial" pitchFamily="34" charset="-122"/>
                <a:cs typeface="Arial" pitchFamily="34" charset="-120"/>
              </a:rPr>
              <a:t>Hybrid</a:t>
            </a:r>
            <a:endParaRPr lang="en-US" sz="1600" dirty="0"/>
          </a:p>
          <a:p>
            <a:pPr algn="ctr" indent="0" marL="0">
              <a:lnSpc>
                <a:spcPct val="105000"/>
              </a:lnSpc>
              <a:buNone/>
            </a:pPr>
            <a:r>
              <a:rPr lang="en-US" sz="1200" dirty="0">
                <a:solidFill>
                  <a:srgbClr val="FFFFFF"/>
                </a:solidFill>
                <a:latin typeface="Arial" pitchFamily="34" charset="0"/>
                <a:ea typeface="Arial" pitchFamily="34" charset="-122"/>
                <a:cs typeface="Arial" pitchFamily="34" charset="-120"/>
              </a:rPr>
              <a:t>Kết hợp hai bảng xếp hạng</a:t>
            </a:r>
            <a:endParaRPr lang="en-US" sz="1600" dirty="0"/>
          </a:p>
        </p:txBody>
      </p:sp>
      <p:sp>
        <p:nvSpPr>
          <p:cNvPr id="25" name="Slide Number Placeholder 0"/>
          <p:cNvSpPr>
            <a:spLocks noGrp="1"/>
          </p:cNvSpPr>
          <p:nvPr>
            <p:ph type="sldNum" sz="quarter" idx="4294967295"/>
          </p:nvPr>
        </p:nvSpPr>
        <p:spPr>
          <a:xfrm>
            <a:off x="8183880" y="46634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0000"/>
                </a:solidFill>
                <a:latin typeface="Lora"/>
                <a:ea typeface="Lora"/>
                <a:cs typeface="Lora"/>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12064" y="128016"/>
            <a:ext cx="8119872" cy="548640"/>
          </a:xfrm>
          <a:prstGeom prst="rect">
            <a:avLst/>
          </a:prstGeom>
          <a:noFill/>
          <a:ln/>
        </p:spPr>
        <p:txBody>
          <a:bodyPr wrap="square" lIns="0" tIns="0" rIns="0" bIns="0" rtlCol="0" anchor="b"/>
          <a:lstStyle/>
          <a:p>
            <a:pPr algn="l" indent="0" marL="0">
              <a:buNone/>
            </a:pPr>
            <a:r>
              <a:rPr lang="en-US" sz="2600" b="1" dirty="0">
                <a:solidFill>
                  <a:srgbClr val="004AAD"/>
                </a:solidFill>
                <a:latin typeface="Noto Sans" pitchFamily="34" charset="0"/>
                <a:ea typeface="Noto Sans" pitchFamily="34" charset="-122"/>
                <a:cs typeface="Noto Sans" pitchFamily="34" charset="-120"/>
              </a:rPr>
              <a:t>Khi nào cần Dense?</a:t>
            </a:r>
            <a:endParaRPr lang="en-US" sz="2600" dirty="0"/>
          </a:p>
        </p:txBody>
      </p:sp>
      <p:sp>
        <p:nvSpPr>
          <p:cNvPr id="4" name="Shape 1"/>
          <p:cNvSpPr/>
          <p:nvPr/>
        </p:nvSpPr>
        <p:spPr>
          <a:xfrm>
            <a:off x="512064" y="1005840"/>
            <a:ext cx="3922776" cy="2606040"/>
          </a:xfrm>
          <a:prstGeom prst="rect">
            <a:avLst/>
          </a:prstGeom>
          <a:solidFill>
            <a:srgbClr val="F0F5FC"/>
          </a:solidFill>
          <a:ln w="15875">
            <a:solidFill>
              <a:srgbClr val="004AAD"/>
            </a:solidFill>
            <a:prstDash val="solid"/>
          </a:ln>
        </p:spPr>
      </p:sp>
      <p:sp>
        <p:nvSpPr>
          <p:cNvPr id="5" name="Shape 2"/>
          <p:cNvSpPr/>
          <p:nvPr/>
        </p:nvSpPr>
        <p:spPr>
          <a:xfrm>
            <a:off x="740664" y="1188720"/>
            <a:ext cx="1737360" cy="347472"/>
          </a:xfrm>
          <a:prstGeom prst="roundRect">
            <a:avLst>
              <a:gd name="adj" fmla="val 21053"/>
            </a:avLst>
          </a:prstGeom>
          <a:solidFill>
            <a:srgbClr val="004AAD"/>
          </a:solidFill>
          <a:ln/>
        </p:spPr>
      </p:sp>
      <p:sp>
        <p:nvSpPr>
          <p:cNvPr id="6" name="Text 3"/>
          <p:cNvSpPr txBox="1"/>
          <p:nvPr/>
        </p:nvSpPr>
        <p:spPr>
          <a:xfrm>
            <a:off x="740664" y="1188720"/>
            <a:ext cx="1737360" cy="347472"/>
          </a:xfrm>
          <a:prstGeom prst="rect">
            <a:avLst/>
          </a:prstGeom>
          <a:noFill/>
          <a:ln/>
        </p:spPr>
        <p:txBody>
          <a:bodyPr wrap="square" lIns="0" tIns="0" rIns="0" bIns="0" rtlCol="0" anchor="ctr"/>
          <a:lstStyle/>
          <a:p>
            <a:pPr algn="ctr" indent="0" marL="0">
              <a:lnSpc>
                <a:spcPct val="105000"/>
              </a:lnSpc>
              <a:buNone/>
            </a:pPr>
            <a:r>
              <a:rPr lang="en-US" sz="1400" b="1" dirty="0">
                <a:solidFill>
                  <a:srgbClr val="FFFFFF"/>
                </a:solidFill>
                <a:latin typeface="Noto Sans" pitchFamily="34" charset="0"/>
                <a:ea typeface="Noto Sans" pitchFamily="34" charset="-122"/>
                <a:cs typeface="Noto Sans" pitchFamily="34" charset="-120"/>
              </a:rPr>
              <a:t>BM25 đã đủ</a:t>
            </a:r>
            <a:endParaRPr lang="en-US" sz="1400" dirty="0"/>
          </a:p>
        </p:txBody>
      </p:sp>
      <p:sp>
        <p:nvSpPr>
          <p:cNvPr id="7" name="Text 4"/>
          <p:cNvSpPr txBox="1"/>
          <p:nvPr/>
        </p:nvSpPr>
        <p:spPr>
          <a:xfrm>
            <a:off x="740664" y="1691640"/>
            <a:ext cx="3474720" cy="566928"/>
          </a:xfrm>
          <a:prstGeom prst="rect">
            <a:avLst/>
          </a:prstGeom>
          <a:noFill/>
          <a:ln/>
        </p:spPr>
        <p:txBody>
          <a:bodyPr wrap="square" lIns="0" tIns="0" rIns="0" bIns="0" rtlCol="0" anchor="t"/>
          <a:lstStyle/>
          <a:p>
            <a:pPr indent="0" marL="0">
              <a:lnSpc>
                <a:spcPct val="105000"/>
              </a:lnSpc>
              <a:buNone/>
            </a:pPr>
            <a:r>
              <a:rPr lang="en-US" sz="1600" i="1" dirty="0">
                <a:solidFill>
                  <a:srgbClr val="161616"/>
                </a:solidFill>
                <a:latin typeface="Noto Sans" pitchFamily="34" charset="0"/>
                <a:ea typeface="Noto Sans" pitchFamily="34" charset="-122"/>
                <a:cs typeface="Noto Sans" pitchFamily="34" charset="-120"/>
              </a:rPr>
              <a:t>“chmod: change file permissions”</a:t>
            </a:r>
            <a:endParaRPr lang="en-US" sz="1600" dirty="0"/>
          </a:p>
        </p:txBody>
      </p:sp>
      <p:sp>
        <p:nvSpPr>
          <p:cNvPr id="8" name="Text 5"/>
          <p:cNvSpPr txBox="1"/>
          <p:nvPr/>
        </p:nvSpPr>
        <p:spPr>
          <a:xfrm>
            <a:off x="740664" y="2377440"/>
            <a:ext cx="3474720" cy="1097280"/>
          </a:xfrm>
          <a:prstGeom prst="rect">
            <a:avLst/>
          </a:prstGeom>
          <a:noFill/>
          <a:ln/>
        </p:spPr>
        <p:txBody>
          <a:bodyPr wrap="square" lIns="0" tIns="0" rIns="0" bIns="0" rtlCol="0" anchor="t"/>
          <a:lstStyle/>
          <a:p>
            <a:pPr indent="0" marL="0">
              <a:lnSpc>
                <a:spcPct val="105000"/>
              </a:lnSpc>
              <a:buNone/>
            </a:pPr>
            <a:r>
              <a:rPr lang="en-US" sz="1400" dirty="0">
                <a:solidFill>
                  <a:srgbClr val="161616"/>
                </a:solidFill>
                <a:latin typeface="Noto Sans" pitchFamily="34" charset="0"/>
                <a:ea typeface="Noto Sans" pitchFamily="34" charset="-122"/>
                <a:cs typeface="Noto Sans" pitchFamily="34" charset="-120"/>
              </a:rPr>
              <a:t>Từ khóa trùng rõ với câu hỏi trong kho, BM25 đã đưa kết quả đúng lên đầu. Chạy thêm Dense chỉ tốn thời gian.</a:t>
            </a:r>
            <a:endParaRPr lang="en-US" sz="1400" dirty="0"/>
          </a:p>
        </p:txBody>
      </p:sp>
      <p:sp>
        <p:nvSpPr>
          <p:cNvPr id="9" name="Shape 6"/>
          <p:cNvSpPr/>
          <p:nvPr/>
        </p:nvSpPr>
        <p:spPr>
          <a:xfrm>
            <a:off x="4709160" y="1005840"/>
            <a:ext cx="3922776" cy="2606040"/>
          </a:xfrm>
          <a:prstGeom prst="rect">
            <a:avLst/>
          </a:prstGeom>
          <a:solidFill>
            <a:srgbClr val="EEF6EA"/>
          </a:solidFill>
          <a:ln w="15875">
            <a:solidFill>
              <a:srgbClr val="347A1C"/>
            </a:solidFill>
            <a:prstDash val="solid"/>
          </a:ln>
        </p:spPr>
      </p:sp>
      <p:sp>
        <p:nvSpPr>
          <p:cNvPr id="10" name="Shape 7"/>
          <p:cNvSpPr/>
          <p:nvPr/>
        </p:nvSpPr>
        <p:spPr>
          <a:xfrm>
            <a:off x="4937760" y="1188720"/>
            <a:ext cx="1737360" cy="347472"/>
          </a:xfrm>
          <a:prstGeom prst="roundRect">
            <a:avLst>
              <a:gd name="adj" fmla="val 21053"/>
            </a:avLst>
          </a:prstGeom>
          <a:solidFill>
            <a:srgbClr val="347A1C"/>
          </a:solidFill>
          <a:ln/>
        </p:spPr>
      </p:sp>
      <p:sp>
        <p:nvSpPr>
          <p:cNvPr id="11" name="Text 8"/>
          <p:cNvSpPr txBox="1"/>
          <p:nvPr/>
        </p:nvSpPr>
        <p:spPr>
          <a:xfrm>
            <a:off x="4937760" y="1188720"/>
            <a:ext cx="1737360" cy="347472"/>
          </a:xfrm>
          <a:prstGeom prst="rect">
            <a:avLst/>
          </a:prstGeom>
          <a:noFill/>
          <a:ln/>
        </p:spPr>
        <p:txBody>
          <a:bodyPr wrap="square" lIns="0" tIns="0" rIns="0" bIns="0" rtlCol="0" anchor="ctr"/>
          <a:lstStyle/>
          <a:p>
            <a:pPr algn="ctr" indent="0" marL="0">
              <a:lnSpc>
                <a:spcPct val="105000"/>
              </a:lnSpc>
              <a:buNone/>
            </a:pPr>
            <a:r>
              <a:rPr lang="en-US" sz="1400" b="1" dirty="0">
                <a:solidFill>
                  <a:srgbClr val="FFFFFF"/>
                </a:solidFill>
                <a:latin typeface="Noto Sans" pitchFamily="34" charset="0"/>
                <a:ea typeface="Noto Sans" pitchFamily="34" charset="-122"/>
                <a:cs typeface="Noto Sans" pitchFamily="34" charset="-120"/>
              </a:rPr>
              <a:t>Cần thêm Dense</a:t>
            </a:r>
            <a:endParaRPr lang="en-US" sz="1400" dirty="0"/>
          </a:p>
        </p:txBody>
      </p:sp>
      <p:sp>
        <p:nvSpPr>
          <p:cNvPr id="12" name="Text 9"/>
          <p:cNvSpPr txBox="1"/>
          <p:nvPr/>
        </p:nvSpPr>
        <p:spPr>
          <a:xfrm>
            <a:off x="4937760" y="1691640"/>
            <a:ext cx="3474720" cy="566928"/>
          </a:xfrm>
          <a:prstGeom prst="rect">
            <a:avLst/>
          </a:prstGeom>
          <a:noFill/>
          <a:ln/>
        </p:spPr>
        <p:txBody>
          <a:bodyPr wrap="square" lIns="0" tIns="0" rIns="0" bIns="0" rtlCol="0" anchor="t"/>
          <a:lstStyle/>
          <a:p>
            <a:pPr indent="0" marL="0">
              <a:lnSpc>
                <a:spcPct val="105000"/>
              </a:lnSpc>
              <a:buNone/>
            </a:pPr>
            <a:r>
              <a:rPr lang="en-US" sz="1600" i="1" dirty="0">
                <a:solidFill>
                  <a:srgbClr val="161616"/>
                </a:solidFill>
                <a:latin typeface="Noto Sans" pitchFamily="34" charset="0"/>
                <a:ea typeface="Noto Sans" pitchFamily="34" charset="-122"/>
                <a:cs typeface="Noto Sans" pitchFamily="34" charset="-120"/>
              </a:rPr>
              <a:t>“How can I display hidden files in Linux?”</a:t>
            </a:r>
            <a:endParaRPr lang="en-US" sz="1600" dirty="0"/>
          </a:p>
        </p:txBody>
      </p:sp>
      <p:sp>
        <p:nvSpPr>
          <p:cNvPr id="13" name="Text 10"/>
          <p:cNvSpPr txBox="1"/>
          <p:nvPr/>
        </p:nvSpPr>
        <p:spPr>
          <a:xfrm>
            <a:off x="4937760" y="2377440"/>
            <a:ext cx="3474720" cy="1097280"/>
          </a:xfrm>
          <a:prstGeom prst="rect">
            <a:avLst/>
          </a:prstGeom>
          <a:noFill/>
          <a:ln/>
        </p:spPr>
        <p:txBody>
          <a:bodyPr wrap="square" lIns="0" tIns="0" rIns="0" bIns="0" rtlCol="0" anchor="t"/>
          <a:lstStyle/>
          <a:p>
            <a:pPr indent="0" marL="0">
              <a:lnSpc>
                <a:spcPct val="105000"/>
              </a:lnSpc>
              <a:buNone/>
            </a:pPr>
            <a:r>
              <a:rPr lang="en-US" sz="1400" dirty="0">
                <a:solidFill>
                  <a:srgbClr val="161616"/>
                </a:solidFill>
                <a:latin typeface="Noto Sans" pitchFamily="34" charset="0"/>
                <a:ea typeface="Noto Sans" pitchFamily="34" charset="-122"/>
                <a:cs typeface="Noto Sans" pitchFamily="34" charset="-120"/>
              </a:rPr>
              <a:t>Câu trong kho: “How do I show dotfiles with ls?”. Cùng ý nhưng khác từ (hidden files ↔ dotfiles), BM25 dễ xếp sai.</a:t>
            </a:r>
            <a:endParaRPr lang="en-US" sz="1400" dirty="0"/>
          </a:p>
        </p:txBody>
      </p:sp>
      <p:sp>
        <p:nvSpPr>
          <p:cNvPr id="14" name="Text 11"/>
          <p:cNvSpPr txBox="1"/>
          <p:nvPr/>
        </p:nvSpPr>
        <p:spPr>
          <a:xfrm>
            <a:off x="512064" y="3794760"/>
            <a:ext cx="8119872" cy="365760"/>
          </a:xfrm>
          <a:prstGeom prst="rect">
            <a:avLst/>
          </a:prstGeom>
          <a:noFill/>
          <a:ln/>
        </p:spPr>
        <p:txBody>
          <a:bodyPr wrap="square" lIns="0" tIns="0" rIns="0" bIns="0" rtlCol="0" anchor="t"/>
          <a:lstStyle/>
          <a:p>
            <a:pPr indent="0" marL="0">
              <a:lnSpc>
                <a:spcPct val="105000"/>
              </a:lnSpc>
              <a:buNone/>
            </a:pPr>
            <a:r>
              <a:rPr lang="en-US" sz="1700" b="1" dirty="0">
                <a:solidFill>
                  <a:srgbClr val="004AAD"/>
                </a:solidFill>
                <a:latin typeface="Noto Sans" pitchFamily="34" charset="0"/>
                <a:ea typeface="Noto Sans" pitchFamily="34" charset="-122"/>
                <a:cs typeface="Noto Sans" pitchFamily="34" charset="-120"/>
              </a:rPr>
              <a:t>Nếu nhận ra trước loại truy vấn, có thể bỏ qua Dense cho các truy vấn dễ.</a:t>
            </a:r>
            <a:endParaRPr lang="en-US" sz="1700" dirty="0"/>
          </a:p>
        </p:txBody>
      </p:sp>
      <p:sp>
        <p:nvSpPr>
          <p:cNvPr id="25" name="Slide Number Placeholder 0"/>
          <p:cNvSpPr>
            <a:spLocks noGrp="1"/>
          </p:cNvSpPr>
          <p:nvPr>
            <p:ph type="sldNum" sz="quarter" idx="4294967295"/>
          </p:nvPr>
        </p:nvSpPr>
        <p:spPr>
          <a:xfrm>
            <a:off x="8183880" y="46634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0000"/>
                </a:solidFill>
                <a:latin typeface="Lora"/>
                <a:ea typeface="Lora"/>
                <a:cs typeface="Lora"/>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12064" y="128016"/>
            <a:ext cx="8119872" cy="548640"/>
          </a:xfrm>
          <a:prstGeom prst="rect">
            <a:avLst/>
          </a:prstGeom>
          <a:noFill/>
          <a:ln/>
        </p:spPr>
        <p:txBody>
          <a:bodyPr wrap="square" lIns="0" tIns="0" rIns="0" bIns="0" rtlCol="0" anchor="b"/>
          <a:lstStyle/>
          <a:p>
            <a:pPr algn="l" indent="0" marL="0">
              <a:buNone/>
            </a:pPr>
            <a:r>
              <a:rPr lang="en-US" sz="2600" b="1" dirty="0">
                <a:solidFill>
                  <a:srgbClr val="004AAD"/>
                </a:solidFill>
                <a:latin typeface="Noto Sans" pitchFamily="34" charset="0"/>
                <a:ea typeface="Noto Sans" pitchFamily="34" charset="-122"/>
                <a:cs typeface="Noto Sans" pitchFamily="34" charset="-120"/>
              </a:rPr>
              <a:t>Câu hỏi nghiên cứu</a:t>
            </a:r>
            <a:endParaRPr lang="en-US" sz="2600" dirty="0"/>
          </a:p>
        </p:txBody>
      </p:sp>
      <p:sp>
        <p:nvSpPr>
          <p:cNvPr id="4" name="Text 1"/>
          <p:cNvSpPr txBox="1"/>
          <p:nvPr/>
        </p:nvSpPr>
        <p:spPr>
          <a:xfrm>
            <a:off x="512064" y="1097280"/>
            <a:ext cx="8119872" cy="777240"/>
          </a:xfrm>
          <a:prstGeom prst="rect">
            <a:avLst/>
          </a:prstGeom>
          <a:noFill/>
          <a:ln/>
        </p:spPr>
        <p:txBody>
          <a:bodyPr wrap="square" lIns="0" tIns="0" rIns="0" bIns="0" rtlCol="0" anchor="t"/>
          <a:lstStyle/>
          <a:p>
            <a:pPr indent="0" marL="0">
              <a:lnSpc>
                <a:spcPct val="105000"/>
              </a:lnSpc>
              <a:buNone/>
            </a:pPr>
            <a:r>
              <a:rPr lang="en-US" sz="2400" b="1" dirty="0">
                <a:solidFill>
                  <a:srgbClr val="004AAD"/>
                </a:solidFill>
                <a:latin typeface="Noto Sans" pitchFamily="34" charset="0"/>
                <a:ea typeface="Noto Sans" pitchFamily="34" charset="-122"/>
                <a:cs typeface="Noto Sans" pitchFamily="34" charset="-120"/>
              </a:rPr>
              <a:t>Có thể biết Dense có cần hay không, trước khi mã hóa truy vấn?</a:t>
            </a:r>
            <a:endParaRPr lang="en-US" sz="2400" dirty="0"/>
          </a:p>
        </p:txBody>
      </p:sp>
      <p:sp>
        <p:nvSpPr>
          <p:cNvPr id="5" name="Text 2"/>
          <p:cNvSpPr txBox="1"/>
          <p:nvPr/>
        </p:nvSpPr>
        <p:spPr>
          <a:xfrm>
            <a:off x="512064" y="2240280"/>
            <a:ext cx="4754880" cy="1554480"/>
          </a:xfrm>
          <a:prstGeom prst="rect">
            <a:avLst/>
          </a:prstGeom>
          <a:noFill/>
          <a:ln/>
        </p:spPr>
        <p:txBody>
          <a:bodyPr wrap="square" lIns="0" tIns="0" rIns="0" bIns="0" rtlCol="0" anchor="t"/>
          <a:lstStyle/>
          <a:p>
            <a:pPr indent="0" marL="0">
              <a:lnSpc>
                <a:spcPct val="105000"/>
              </a:lnSpc>
              <a:buNone/>
            </a:pPr>
            <a:r>
              <a:rPr lang="en-US" sz="1900" dirty="0">
                <a:solidFill>
                  <a:srgbClr val="000000"/>
                </a:solidFill>
                <a:latin typeface="Noto Sans" pitchFamily="34" charset="0"/>
                <a:ea typeface="Noto Sans" pitchFamily="34" charset="-122"/>
                <a:cs typeface="Noto Sans" pitchFamily="34" charset="-120"/>
              </a:rPr>
              <a:t>Thông tin có sẵn </a:t>
            </a:r>
            <a:pPr indent="0" marL="0">
              <a:lnSpc>
                <a:spcPct val="105000"/>
              </a:lnSpc>
              <a:buNone/>
            </a:pPr>
            <a:r>
              <a:rPr lang="en-US" sz="1900" b="1" dirty="0">
                <a:solidFill>
                  <a:srgbClr val="004AAD"/>
                </a:solidFill>
                <a:latin typeface="Noto Sans" pitchFamily="34" charset="0"/>
                <a:ea typeface="Noto Sans" pitchFamily="34" charset="-122"/>
                <a:cs typeface="Noto Sans" pitchFamily="34" charset="-120"/>
              </a:rPr>
              <a:t>trước khi chạy Dense</a:t>
            </a:r>
            <a:pPr indent="0" marL="0">
              <a:lnSpc>
                <a:spcPct val="105000"/>
              </a:lnSpc>
              <a:buNone/>
            </a:pPr>
            <a:r>
              <a:rPr lang="en-US" sz="1900" dirty="0">
                <a:solidFill>
                  <a:srgbClr val="000000"/>
                </a:solidFill>
                <a:latin typeface="Noto Sans" pitchFamily="34" charset="0"/>
                <a:ea typeface="Noto Sans" pitchFamily="34" charset="-122"/>
                <a:cs typeface="Noto Sans" pitchFamily="34" charset="-120"/>
              </a:rPr>
              <a:t> gồm câu hỏi và danh sách BM25. Liệu chúng đủ để đoán truy vấn nào cần tìm theo ngữ nghĩa?</a:t>
            </a:r>
            <a:endParaRPr lang="en-US" sz="1900" dirty="0"/>
          </a:p>
        </p:txBody>
      </p:sp>
      <p:sp>
        <p:nvSpPr>
          <p:cNvPr id="6" name="Shape 3"/>
          <p:cNvSpPr/>
          <p:nvPr/>
        </p:nvSpPr>
        <p:spPr>
          <a:xfrm>
            <a:off x="5577840" y="2194560"/>
            <a:ext cx="0" cy="2011680"/>
          </a:xfrm>
          <a:prstGeom prst="line">
            <a:avLst/>
          </a:prstGeom>
          <a:noFill/>
          <a:ln w="19050">
            <a:solidFill>
              <a:srgbClr val="D9D9D9"/>
            </a:solidFill>
            <a:prstDash val="solid"/>
          </a:ln>
        </p:spPr>
      </p:sp>
      <p:sp>
        <p:nvSpPr>
          <p:cNvPr id="7" name="Text 4"/>
          <p:cNvSpPr txBox="1"/>
          <p:nvPr/>
        </p:nvSpPr>
        <p:spPr>
          <a:xfrm>
            <a:off x="5852160" y="2194560"/>
            <a:ext cx="2788920" cy="365760"/>
          </a:xfrm>
          <a:prstGeom prst="rect">
            <a:avLst/>
          </a:prstGeom>
          <a:noFill/>
          <a:ln/>
        </p:spPr>
        <p:txBody>
          <a:bodyPr wrap="square" lIns="0" tIns="0" rIns="0" bIns="0" rtlCol="0" anchor="t"/>
          <a:lstStyle/>
          <a:p>
            <a:pPr indent="0" marL="0">
              <a:lnSpc>
                <a:spcPct val="105000"/>
              </a:lnSpc>
              <a:buNone/>
            </a:pPr>
            <a:r>
              <a:rPr lang="en-US" sz="1900" b="1" dirty="0">
                <a:solidFill>
                  <a:srgbClr val="004AAD"/>
                </a:solidFill>
                <a:latin typeface="Noto Sans" pitchFamily="34" charset="0"/>
                <a:ea typeface="Noto Sans" pitchFamily="34" charset="-122"/>
                <a:cs typeface="Noto Sans" pitchFamily="34" charset="-120"/>
              </a:rPr>
              <a:t>Điều kiện để có lợi</a:t>
            </a:r>
            <a:endParaRPr lang="en-US" sz="1900" dirty="0"/>
          </a:p>
        </p:txBody>
      </p:sp>
      <p:sp>
        <p:nvSpPr>
          <p:cNvPr id="8" name="Text 5"/>
          <p:cNvSpPr txBox="1"/>
          <p:nvPr/>
        </p:nvSpPr>
        <p:spPr>
          <a:xfrm>
            <a:off x="5852160" y="2633472"/>
            <a:ext cx="2788920" cy="1463040"/>
          </a:xfrm>
          <a:prstGeom prst="rect">
            <a:avLst/>
          </a:prstGeom>
          <a:noFill/>
          <a:ln/>
        </p:spPr>
        <p:txBody>
          <a:bodyPr wrap="square" lIns="0" tIns="0" rIns="0" bIns="0" rtlCol="0" anchor="t"/>
          <a:lstStyle/>
          <a:p>
            <a:pPr indent="0" marL="0">
              <a:lnSpc>
                <a:spcPct val="105000"/>
              </a:lnSpc>
              <a:buNone/>
            </a:pPr>
            <a:r>
              <a:rPr lang="en-US" sz="1500" dirty="0">
                <a:solidFill>
                  <a:srgbClr val="000000"/>
                </a:solidFill>
                <a:latin typeface="Noto Sans" pitchFamily="34" charset="0"/>
                <a:ea typeface="Noto Sans" pitchFamily="34" charset="-122"/>
                <a:cs typeface="Noto Sans" pitchFamily="34" charset="-120"/>
              </a:rPr>
              <a:t>Bộ quyết định phải rẻ hơn nhiều so với Dense, đoán đủ đúng, và chất lượng không giảm quá biên cho phép.</a:t>
            </a:r>
            <a:endParaRPr lang="en-US" sz="1500" dirty="0"/>
          </a:p>
        </p:txBody>
      </p:sp>
      <p:sp>
        <p:nvSpPr>
          <p:cNvPr id="25" name="Slide Number Placeholder 0"/>
          <p:cNvSpPr>
            <a:spLocks noGrp="1"/>
          </p:cNvSpPr>
          <p:nvPr>
            <p:ph type="sldNum" sz="quarter" idx="4294967295"/>
          </p:nvPr>
        </p:nvSpPr>
        <p:spPr>
          <a:xfrm>
            <a:off x="8183880" y="46634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0000"/>
                </a:solidFill>
                <a:latin typeface="Lora"/>
                <a:ea typeface="Lora"/>
                <a:cs typeface="Lora"/>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12064" y="128016"/>
            <a:ext cx="8119872" cy="548640"/>
          </a:xfrm>
          <a:prstGeom prst="rect">
            <a:avLst/>
          </a:prstGeom>
          <a:noFill/>
          <a:ln/>
        </p:spPr>
        <p:txBody>
          <a:bodyPr wrap="square" lIns="0" tIns="0" rIns="0" bIns="0" rtlCol="0" anchor="b"/>
          <a:lstStyle/>
          <a:p>
            <a:pPr algn="l" indent="0" marL="0">
              <a:buNone/>
            </a:pPr>
            <a:r>
              <a:rPr lang="en-US" sz="2600" b="1" dirty="0">
                <a:solidFill>
                  <a:srgbClr val="004AAD"/>
                </a:solidFill>
                <a:latin typeface="Noto Sans" pitchFamily="34" charset="0"/>
                <a:ea typeface="Noto Sans" pitchFamily="34" charset="-122"/>
                <a:cs typeface="Noto Sans" pitchFamily="34" charset="-120"/>
              </a:rPr>
              <a:t>Nghiên cứu liên quan và điểm khác</a:t>
            </a:r>
            <a:endParaRPr lang="en-US" sz="2600" dirty="0"/>
          </a:p>
        </p:txBody>
      </p:sp>
      <p:sp>
        <p:nvSpPr>
          <p:cNvPr id="4" name="Text 1"/>
          <p:cNvSpPr txBox="1"/>
          <p:nvPr/>
        </p:nvSpPr>
        <p:spPr>
          <a:xfrm>
            <a:off x="512064" y="960120"/>
            <a:ext cx="8119872" cy="640080"/>
          </a:xfrm>
          <a:prstGeom prst="rect">
            <a:avLst/>
          </a:prstGeom>
          <a:noFill/>
          <a:ln/>
        </p:spPr>
        <p:txBody>
          <a:bodyPr wrap="square" lIns="0" tIns="0" rIns="0" bIns="0" rtlCol="0" anchor="t"/>
          <a:lstStyle/>
          <a:p>
            <a:pPr indent="0" marL="0">
              <a:lnSpc>
                <a:spcPct val="105000"/>
              </a:lnSpc>
              <a:buNone/>
            </a:pPr>
            <a:r>
              <a:rPr lang="en-US" sz="1700" dirty="0">
                <a:solidFill>
                  <a:srgbClr val="000000"/>
                </a:solidFill>
                <a:latin typeface="Noto Sans" pitchFamily="34" charset="0"/>
                <a:ea typeface="Noto Sans" pitchFamily="34" charset="-122"/>
                <a:cs typeface="Noto Sans" pitchFamily="34" charset="-120"/>
              </a:rPr>
              <a:t>Định tuyến theo từng truy vấn đã có [1, 2]. PE-GH khác ở </a:t>
            </a:r>
            <a:pPr indent="0" marL="0">
              <a:lnSpc>
                <a:spcPct val="105000"/>
              </a:lnSpc>
              <a:buNone/>
            </a:pPr>
            <a:r>
              <a:rPr lang="en-US" sz="1700" b="1" dirty="0">
                <a:solidFill>
                  <a:srgbClr val="004AAD"/>
                </a:solidFill>
                <a:latin typeface="Noto Sans" pitchFamily="34" charset="0"/>
                <a:ea typeface="Noto Sans" pitchFamily="34" charset="-122"/>
                <a:cs typeface="Noto Sans" pitchFamily="34" charset="-120"/>
              </a:rPr>
              <a:t>cách huấn luyện gate</a:t>
            </a:r>
            <a:pPr indent="0" marL="0">
              <a:lnSpc>
                <a:spcPct val="105000"/>
              </a:lnSpc>
              <a:buNone/>
            </a:pPr>
            <a:r>
              <a:rPr lang="en-US" sz="1700" dirty="0">
                <a:solidFill>
                  <a:srgbClr val="000000"/>
                </a:solidFill>
                <a:latin typeface="Noto Sans" pitchFamily="34" charset="0"/>
                <a:ea typeface="Noto Sans" pitchFamily="34" charset="-122"/>
                <a:cs typeface="Noto Sans" pitchFamily="34" charset="-120"/>
              </a:rPr>
              <a:t>, và được so với </a:t>
            </a:r>
            <a:pPr indent="0" marL="0">
              <a:lnSpc>
                <a:spcPct val="105000"/>
              </a:lnSpc>
              <a:buNone/>
            </a:pPr>
            <a:r>
              <a:rPr lang="en-US" sz="1700" b="1" dirty="0">
                <a:solidFill>
                  <a:srgbClr val="004AAD"/>
                </a:solidFill>
                <a:latin typeface="Noto Sans" pitchFamily="34" charset="0"/>
                <a:ea typeface="Noto Sans" pitchFamily="34" charset="-122"/>
                <a:cs typeface="Noto Sans" pitchFamily="34" charset="-120"/>
              </a:rPr>
              <a:t>quy tắc đơn giản</a:t>
            </a:r>
            <a:pPr indent="0" marL="0">
              <a:lnSpc>
                <a:spcPct val="105000"/>
              </a:lnSpc>
              <a:buNone/>
            </a:pPr>
            <a:r>
              <a:rPr lang="en-US" sz="1700" dirty="0">
                <a:solidFill>
                  <a:srgbClr val="000000"/>
                </a:solidFill>
                <a:latin typeface="Noto Sans" pitchFamily="34" charset="0"/>
                <a:ea typeface="Noto Sans" pitchFamily="34" charset="-122"/>
                <a:cs typeface="Noto Sans" pitchFamily="34" charset="-120"/>
              </a:rPr>
              <a:t> ở cùng số lần gọi Dense.</a:t>
            </a:r>
            <a:endParaRPr lang="en-US" sz="1700" dirty="0"/>
          </a:p>
        </p:txBody>
      </p:sp>
      <p:sp>
        <p:nvSpPr>
          <p:cNvPr id="5" name="Text 2"/>
          <p:cNvSpPr txBox="1"/>
          <p:nvPr/>
        </p:nvSpPr>
        <p:spPr>
          <a:xfrm>
            <a:off x="512064" y="1755648"/>
            <a:ext cx="3657600" cy="347472"/>
          </a:xfrm>
          <a:prstGeom prst="rect">
            <a:avLst/>
          </a:prstGeom>
          <a:noFill/>
          <a:ln/>
        </p:spPr>
        <p:txBody>
          <a:bodyPr wrap="square" lIns="0" tIns="0" rIns="0" bIns="0" rtlCol="0" anchor="t"/>
          <a:lstStyle/>
          <a:p>
            <a:pPr indent="0" marL="0">
              <a:lnSpc>
                <a:spcPct val="105000"/>
              </a:lnSpc>
              <a:buNone/>
            </a:pPr>
            <a:r>
              <a:rPr lang="en-US" sz="1800" b="1" dirty="0">
                <a:solidFill>
                  <a:srgbClr val="004AAD"/>
                </a:solidFill>
                <a:latin typeface="Noto Sans" pitchFamily="34" charset="0"/>
                <a:ea typeface="Noto Sans" pitchFamily="34" charset="-122"/>
                <a:cs typeface="Noto Sans" pitchFamily="34" charset="-120"/>
              </a:rPr>
              <a:t>Nghiên cứu đã có</a:t>
            </a:r>
            <a:endParaRPr lang="en-US" sz="1800" dirty="0"/>
          </a:p>
        </p:txBody>
      </p:sp>
      <p:sp>
        <p:nvSpPr>
          <p:cNvPr id="6" name="Text 3"/>
          <p:cNvSpPr txBox="1"/>
          <p:nvPr/>
        </p:nvSpPr>
        <p:spPr>
          <a:xfrm>
            <a:off x="512064" y="2176272"/>
            <a:ext cx="3794760" cy="1874520"/>
          </a:xfrm>
          <a:prstGeom prst="rect">
            <a:avLst/>
          </a:prstGeom>
          <a:noFill/>
          <a:ln/>
        </p:spPr>
        <p:txBody>
          <a:bodyPr wrap="square" lIns="0" tIns="0" rIns="0" bIns="0" rtlCol="0" anchor="t"/>
          <a:lstStyle/>
          <a:p>
            <a:pPr indent="0" marL="0">
              <a:lnSpc>
                <a:spcPct val="105000"/>
              </a:lnSpc>
              <a:buNone/>
            </a:pPr>
            <a:r>
              <a:rPr lang="en-US" sz="1400" b="1" dirty="0">
                <a:solidFill>
                  <a:srgbClr val="000000"/>
                </a:solidFill>
                <a:latin typeface="Noto Sans" pitchFamily="34" charset="0"/>
                <a:ea typeface="Noto Sans" pitchFamily="34" charset="-122"/>
                <a:cs typeface="Noto Sans" pitchFamily="34" charset="-120"/>
              </a:rPr>
              <a:t>Arabzadeh và cộng sự, CIKM 2021 </a:t>
            </a:r>
            <a:pPr indent="0" marL="0">
              <a:lnSpc>
                <a:spcPct val="105000"/>
              </a:lnSpc>
              <a:buNone/>
            </a:pPr>
            <a:r>
              <a:rPr lang="en-US" sz="1400" dirty="0">
                <a:solidFill>
                  <a:srgbClr val="004AAD"/>
                </a:solidFill>
                <a:latin typeface="Noto Sans" pitchFamily="34" charset="0"/>
                <a:ea typeface="Noto Sans" pitchFamily="34" charset="-122"/>
                <a:cs typeface="Noto Sans" pitchFamily="34" charset="-120"/>
              </a:rPr>
              <a:t>[1]</a:t>
            </a:r>
            <a:endParaRPr lang="en-US" sz="1400" dirty="0"/>
          </a:p>
          <a:p>
            <a:pPr indent="0" marL="0">
              <a:lnSpc>
                <a:spcPct val="105000"/>
              </a:lnSpc>
              <a:buNone/>
            </a:pPr>
            <a:r>
              <a:rPr lang="en-US" sz="1400" dirty="0">
                <a:solidFill>
                  <a:srgbClr val="000000"/>
                </a:solidFill>
                <a:latin typeface="Noto Sans" pitchFamily="34" charset="0"/>
                <a:ea typeface="Noto Sans" pitchFamily="34" charset="-122"/>
                <a:cs typeface="Noto Sans" pitchFamily="34" charset="-120"/>
              </a:rPr>
              <a:t>BERT chọn sparse hay dense/hybrid; nhãn: BM25 có tìm thấy kết quả đúng.</a:t>
            </a:r>
            <a:endParaRPr lang="en-US" sz="1400" dirty="0"/>
          </a:p>
          <a:p>
            <a:pPr indent="0" marL="0">
              <a:lnSpc>
                <a:spcPct val="105000"/>
              </a:lnSpc>
              <a:buNone/>
            </a:pPr>
            <a:r>
              <a:rPr lang="en-US" sz="800" dirty="0">
                <a:solidFill>
                  <a:srgbClr val="000000"/>
                </a:solidFill>
                <a:latin typeface="Noto Sans" pitchFamily="34" charset="0"/>
                <a:ea typeface="Noto Sans" pitchFamily="34" charset="-122"/>
                <a:cs typeface="Noto Sans" pitchFamily="34" charset="-120"/>
              </a:rPr>
              <a:t> </a:t>
            </a:r>
            <a:endParaRPr lang="en-US" sz="1400" dirty="0"/>
          </a:p>
          <a:p>
            <a:pPr indent="0" marL="0">
              <a:lnSpc>
                <a:spcPct val="105000"/>
              </a:lnSpc>
              <a:buNone/>
            </a:pPr>
            <a:r>
              <a:rPr lang="en-US" sz="1400" b="1" dirty="0">
                <a:solidFill>
                  <a:srgbClr val="000000"/>
                </a:solidFill>
                <a:latin typeface="Noto Sans" pitchFamily="34" charset="0"/>
                <a:ea typeface="Noto Sans" pitchFamily="34" charset="-122"/>
                <a:cs typeface="Noto Sans" pitchFamily="34" charset="-120"/>
              </a:rPr>
              <a:t>LiteGator, 2025 </a:t>
            </a:r>
            <a:pPr indent="0" marL="0">
              <a:lnSpc>
                <a:spcPct val="105000"/>
              </a:lnSpc>
              <a:buNone/>
            </a:pPr>
            <a:r>
              <a:rPr lang="en-US" sz="1400" dirty="0">
                <a:solidFill>
                  <a:srgbClr val="004AAD"/>
                </a:solidFill>
                <a:latin typeface="Noto Sans" pitchFamily="34" charset="0"/>
                <a:ea typeface="Noto Sans" pitchFamily="34" charset="-122"/>
                <a:cs typeface="Noto Sans" pitchFamily="34" charset="-120"/>
              </a:rPr>
              <a:t>[2]</a:t>
            </a:r>
            <a:endParaRPr lang="en-US" sz="1400" dirty="0"/>
          </a:p>
          <a:p>
            <a:pPr indent="0" marL="0">
              <a:lnSpc>
                <a:spcPct val="105000"/>
              </a:lnSpc>
              <a:buNone/>
            </a:pPr>
            <a:r>
              <a:rPr lang="en-US" sz="1400" dirty="0">
                <a:solidFill>
                  <a:srgbClr val="000000"/>
                </a:solidFill>
                <a:latin typeface="Noto Sans" pitchFamily="34" charset="0"/>
                <a:ea typeface="Noto Sans" pitchFamily="34" charset="-122"/>
                <a:cs typeface="Noto Sans" pitchFamily="34" charset="-120"/>
              </a:rPr>
              <a:t>SVM tuyến tính trên đặc trưng câu hỏi và điểm BM25; nhãn: Dense có lợi không.</a:t>
            </a:r>
            <a:endParaRPr lang="en-US" sz="1400" dirty="0"/>
          </a:p>
        </p:txBody>
      </p:sp>
      <p:sp>
        <p:nvSpPr>
          <p:cNvPr id="7" name="Text 4"/>
          <p:cNvSpPr txBox="1"/>
          <p:nvPr/>
        </p:nvSpPr>
        <p:spPr>
          <a:xfrm>
            <a:off x="512064" y="4279392"/>
            <a:ext cx="7589520" cy="566928"/>
          </a:xfrm>
          <a:prstGeom prst="rect">
            <a:avLst/>
          </a:prstGeom>
          <a:noFill/>
          <a:ln/>
        </p:spPr>
        <p:txBody>
          <a:bodyPr wrap="square" lIns="0" tIns="0" rIns="0" bIns="0" rtlCol="0" anchor="b"/>
          <a:lstStyle/>
          <a:p>
            <a:pPr indent="0" marL="0">
              <a:lnSpc>
                <a:spcPct val="105000"/>
              </a:lnSpc>
              <a:spcAft>
                <a:spcPts val="200"/>
              </a:spcAft>
              <a:buNone/>
            </a:pPr>
            <a:r>
              <a:rPr lang="en-US" sz="850" dirty="0">
                <a:solidFill>
                  <a:srgbClr val="004AAD"/>
                </a:solidFill>
                <a:latin typeface="Noto Sans" pitchFamily="34" charset="0"/>
                <a:ea typeface="Noto Sans" pitchFamily="34" charset="-122"/>
                <a:cs typeface="Noto Sans" pitchFamily="34" charset="-120"/>
              </a:rPr>
              <a:t>[1] </a:t>
            </a:r>
            <a:pPr indent="0" marL="0">
              <a:lnSpc>
                <a:spcPct val="105000"/>
              </a:lnSpc>
              <a:spcAft>
                <a:spcPts val="200"/>
              </a:spcAft>
              <a:buNone/>
            </a:pPr>
            <a:r>
              <a:rPr lang="en-US" sz="850" dirty="0">
                <a:solidFill>
                  <a:srgbClr val="595959"/>
                </a:solidFill>
                <a:latin typeface="Noto Sans" pitchFamily="34" charset="0"/>
                <a:ea typeface="Noto Sans" pitchFamily="34" charset="-122"/>
                <a:cs typeface="Noto Sans" pitchFamily="34" charset="-120"/>
              </a:rPr>
              <a:t>N. Arabzadeh, X. Yan, C. L. A. Clarke (2021). </a:t>
            </a:r>
            <a:pPr indent="0" marL="0">
              <a:lnSpc>
                <a:spcPct val="105000"/>
              </a:lnSpc>
              <a:spcAft>
                <a:spcPts val="200"/>
              </a:spcAft>
              <a:buNone/>
            </a:pPr>
            <a:r>
              <a:rPr lang="en-US" sz="850" i="1" dirty="0">
                <a:solidFill>
                  <a:srgbClr val="595959"/>
                </a:solidFill>
                <a:latin typeface="Noto Sans" pitchFamily="34" charset="0"/>
                <a:ea typeface="Noto Sans" pitchFamily="34" charset="-122"/>
                <a:cs typeface="Noto Sans" pitchFamily="34" charset="-120"/>
              </a:rPr>
              <a:t>Predicting Efficiency/Effectiveness Trade-offs for Dense vs. Sparse Retrieval Strategy Selection</a:t>
            </a:r>
            <a:pPr indent="0" marL="0">
              <a:lnSpc>
                <a:spcPct val="105000"/>
              </a:lnSpc>
              <a:spcAft>
                <a:spcPts val="200"/>
              </a:spcAft>
              <a:buNone/>
            </a:pPr>
            <a:r>
              <a:rPr lang="en-US" sz="850" dirty="0">
                <a:solidFill>
                  <a:srgbClr val="595959"/>
                </a:solidFill>
                <a:latin typeface="Noto Sans" pitchFamily="34" charset="0"/>
                <a:ea typeface="Noto Sans" pitchFamily="34" charset="-122"/>
                <a:cs typeface="Noto Sans" pitchFamily="34" charset="-120"/>
              </a:rPr>
              <a:t>. CIKM 2021. </a:t>
            </a:r>
            <a:pPr indent="0" marL="0">
              <a:lnSpc>
                <a:spcPct val="105000"/>
              </a:lnSpc>
              <a:spcAft>
                <a:spcPts val="200"/>
              </a:spcAft>
              <a:buNone/>
            </a:pPr>
            <a:r>
              <a:rPr lang="en-US" sz="850" u="sng" dirty="0">
                <a:solidFill>
                  <a:srgbClr val="004AAD"/>
                </a:solidFill>
                <a:latin typeface="Noto Sans" pitchFamily="34" charset="0"/>
                <a:ea typeface="Noto Sans" pitchFamily="34" charset="-122"/>
                <a:cs typeface="Noto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doi.org/10.1145/3459637.3482159</a:t>
            </a:r>
            <a:pPr indent="0" marL="0">
              <a:lnSpc>
                <a:spcPct val="105000"/>
              </a:lnSpc>
              <a:spcAft>
                <a:spcPts val="200"/>
              </a:spcAft>
              <a:buNone/>
            </a:pPr>
            <a:endParaRPr lang="en-US" sz="850" dirty="0"/>
          </a:p>
          <a:p>
            <a:pPr indent="0" marL="0">
              <a:lnSpc>
                <a:spcPct val="105000"/>
              </a:lnSpc>
              <a:spcAft>
                <a:spcPts val="200"/>
              </a:spcAft>
              <a:buNone/>
            </a:pPr>
            <a:r>
              <a:rPr lang="en-US" sz="850" dirty="0">
                <a:solidFill>
                  <a:srgbClr val="004AAD"/>
                </a:solidFill>
                <a:latin typeface="Noto Sans" pitchFamily="34" charset="0"/>
                <a:ea typeface="Noto Sans" pitchFamily="34" charset="-122"/>
                <a:cs typeface="Noto Sans" pitchFamily="34" charset="-120"/>
              </a:rPr>
              <a:t>[2] </a:t>
            </a:r>
            <a:pPr indent="0" marL="0">
              <a:lnSpc>
                <a:spcPct val="105000"/>
              </a:lnSpc>
              <a:spcAft>
                <a:spcPts val="200"/>
              </a:spcAft>
              <a:buNone/>
            </a:pPr>
            <a:r>
              <a:rPr lang="en-US" sz="850" dirty="0">
                <a:solidFill>
                  <a:srgbClr val="595959"/>
                </a:solidFill>
                <a:latin typeface="Noto Sans" pitchFamily="34" charset="0"/>
                <a:ea typeface="Noto Sans" pitchFamily="34" charset="-122"/>
                <a:cs typeface="Noto Sans" pitchFamily="34" charset="-120"/>
              </a:rPr>
              <a:t>A.-R. Muhammad, Darmanto, R. L. Atimi (2025). </a:t>
            </a:r>
            <a:pPr indent="0" marL="0">
              <a:lnSpc>
                <a:spcPct val="105000"/>
              </a:lnSpc>
              <a:spcAft>
                <a:spcPts val="200"/>
              </a:spcAft>
              <a:buNone/>
            </a:pPr>
            <a:r>
              <a:rPr lang="en-US" sz="850" i="1" dirty="0">
                <a:solidFill>
                  <a:srgbClr val="595959"/>
                </a:solidFill>
                <a:latin typeface="Noto Sans" pitchFamily="34" charset="0"/>
                <a:ea typeface="Noto Sans" pitchFamily="34" charset="-122"/>
                <a:cs typeface="Noto Sans" pitchFamily="34" charset="-120"/>
              </a:rPr>
              <a:t>LiteGator: A Lightweight and Budget-Aware Retriever Routing Framework for Low-Resource Question Answering</a:t>
            </a:r>
            <a:pPr indent="0" marL="0">
              <a:lnSpc>
                <a:spcPct val="105000"/>
              </a:lnSpc>
              <a:spcAft>
                <a:spcPts val="200"/>
              </a:spcAft>
              <a:buNone/>
            </a:pPr>
            <a:r>
              <a:rPr lang="en-US" sz="850" dirty="0">
                <a:solidFill>
                  <a:srgbClr val="595959"/>
                </a:solidFill>
                <a:latin typeface="Noto Sans" pitchFamily="34" charset="0"/>
                <a:ea typeface="Noto Sans" pitchFamily="34" charset="-122"/>
                <a:cs typeface="Noto Sans" pitchFamily="34" charset="-120"/>
              </a:rPr>
              <a:t>. iCAST-ES 2025. </a:t>
            </a:r>
            <a:pPr indent="0" marL="0">
              <a:lnSpc>
                <a:spcPct val="105000"/>
              </a:lnSpc>
              <a:spcAft>
                <a:spcPts val="200"/>
              </a:spcAft>
              <a:buNone/>
            </a:pPr>
            <a:r>
              <a:rPr lang="en-US" sz="850" u="sng" dirty="0">
                <a:solidFill>
                  <a:srgbClr val="004AAD"/>
                </a:solidFill>
                <a:latin typeface="Noto Sans" pitchFamily="34" charset="0"/>
                <a:ea typeface="Noto Sans" pitchFamily="34" charset="-122"/>
                <a:cs typeface="Noto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doi.org/10.2991/978-94-6463-926-1_77</a:t>
            </a:r>
            <a:endParaRPr lang="en-US" sz="850" dirty="0"/>
          </a:p>
        </p:txBody>
      </p:sp>
      <p:sp>
        <p:nvSpPr>
          <p:cNvPr id="8" name="Shape 5"/>
          <p:cNvSpPr/>
          <p:nvPr/>
        </p:nvSpPr>
        <p:spPr>
          <a:xfrm>
            <a:off x="4526280" y="1755648"/>
            <a:ext cx="0" cy="2286000"/>
          </a:xfrm>
          <a:prstGeom prst="line">
            <a:avLst/>
          </a:prstGeom>
          <a:noFill/>
          <a:ln w="19050">
            <a:solidFill>
              <a:srgbClr val="D9D9D9"/>
            </a:solidFill>
            <a:prstDash val="solid"/>
          </a:ln>
        </p:spPr>
      </p:sp>
      <p:sp>
        <p:nvSpPr>
          <p:cNvPr id="9" name="Text 6"/>
          <p:cNvSpPr txBox="1"/>
          <p:nvPr/>
        </p:nvSpPr>
        <p:spPr>
          <a:xfrm>
            <a:off x="4800600" y="1755648"/>
            <a:ext cx="3840480" cy="347472"/>
          </a:xfrm>
          <a:prstGeom prst="rect">
            <a:avLst/>
          </a:prstGeom>
          <a:noFill/>
          <a:ln/>
        </p:spPr>
        <p:txBody>
          <a:bodyPr wrap="square" lIns="0" tIns="0" rIns="0" bIns="0" rtlCol="0" anchor="t"/>
          <a:lstStyle/>
          <a:p>
            <a:pPr indent="0" marL="0">
              <a:lnSpc>
                <a:spcPct val="105000"/>
              </a:lnSpc>
              <a:buNone/>
            </a:pPr>
            <a:r>
              <a:rPr lang="en-US" sz="1800" b="1" dirty="0">
                <a:solidFill>
                  <a:srgbClr val="004AAD"/>
                </a:solidFill>
                <a:latin typeface="Noto Sans" pitchFamily="34" charset="0"/>
                <a:ea typeface="Noto Sans" pitchFamily="34" charset="-122"/>
                <a:cs typeface="Noto Sans" pitchFamily="34" charset="-120"/>
              </a:rPr>
              <a:t>Gate của PE-GH khác ở</a:t>
            </a:r>
            <a:endParaRPr lang="en-US" sz="1800" dirty="0"/>
          </a:p>
        </p:txBody>
      </p:sp>
      <p:sp>
        <p:nvSpPr>
          <p:cNvPr id="10" name="Shape 7"/>
          <p:cNvSpPr/>
          <p:nvPr/>
        </p:nvSpPr>
        <p:spPr>
          <a:xfrm>
            <a:off x="4800600" y="2286000"/>
            <a:ext cx="118872" cy="118872"/>
          </a:xfrm>
          <a:prstGeom prst="ellipse">
            <a:avLst/>
          </a:prstGeom>
          <a:solidFill>
            <a:srgbClr val="347A1C"/>
          </a:solidFill>
          <a:ln/>
        </p:spPr>
      </p:sp>
      <p:sp>
        <p:nvSpPr>
          <p:cNvPr id="11" name="Text 8"/>
          <p:cNvSpPr txBox="1"/>
          <p:nvPr/>
        </p:nvSpPr>
        <p:spPr>
          <a:xfrm>
            <a:off x="5029200" y="2212848"/>
            <a:ext cx="3611880" cy="530352"/>
          </a:xfrm>
          <a:prstGeom prst="rect">
            <a:avLst/>
          </a:prstGeom>
          <a:noFill/>
          <a:ln/>
        </p:spPr>
        <p:txBody>
          <a:bodyPr wrap="square" lIns="0" tIns="0" rIns="0" bIns="0" rtlCol="0" anchor="t"/>
          <a:lstStyle/>
          <a:p>
            <a:pPr indent="0" marL="0">
              <a:lnSpc>
                <a:spcPct val="105000"/>
              </a:lnSpc>
              <a:buNone/>
            </a:pPr>
            <a:r>
              <a:rPr lang="en-US" sz="1400" b="1" dirty="0">
                <a:solidFill>
                  <a:srgbClr val="000000"/>
                </a:solidFill>
                <a:latin typeface="Noto Sans" pitchFamily="34" charset="0"/>
                <a:ea typeface="Noto Sans" pitchFamily="34" charset="-122"/>
                <a:cs typeface="Noto Sans" pitchFamily="34" charset="-120"/>
              </a:rPr>
              <a:t>Mô hình: </a:t>
            </a:r>
            <a:pPr indent="0" marL="0">
              <a:lnSpc>
                <a:spcPct val="105000"/>
              </a:lnSpc>
              <a:buNone/>
            </a:pPr>
            <a:r>
              <a:rPr lang="en-US" sz="1400" dirty="0">
                <a:solidFill>
                  <a:srgbClr val="000000"/>
                </a:solidFill>
                <a:latin typeface="Noto Sans" pitchFamily="34" charset="0"/>
                <a:ea typeface="Noto Sans" pitchFamily="34" charset="-122"/>
                <a:cs typeface="Noto Sans" pitchFamily="34" charset="-120"/>
              </a:rPr>
              <a:t>logistic nhẹ trên đặc trưng BM25, không cần BERT như [1].</a:t>
            </a:r>
            <a:endParaRPr lang="en-US" sz="1400" dirty="0"/>
          </a:p>
        </p:txBody>
      </p:sp>
      <p:sp>
        <p:nvSpPr>
          <p:cNvPr id="12" name="Shape 9"/>
          <p:cNvSpPr/>
          <p:nvPr/>
        </p:nvSpPr>
        <p:spPr>
          <a:xfrm>
            <a:off x="4800600" y="2871216"/>
            <a:ext cx="118872" cy="118872"/>
          </a:xfrm>
          <a:prstGeom prst="ellipse">
            <a:avLst/>
          </a:prstGeom>
          <a:solidFill>
            <a:srgbClr val="347A1C"/>
          </a:solidFill>
          <a:ln/>
        </p:spPr>
      </p:sp>
      <p:sp>
        <p:nvSpPr>
          <p:cNvPr id="13" name="Text 10"/>
          <p:cNvSpPr txBox="1"/>
          <p:nvPr/>
        </p:nvSpPr>
        <p:spPr>
          <a:xfrm>
            <a:off x="5029200" y="2798064"/>
            <a:ext cx="3611880" cy="530352"/>
          </a:xfrm>
          <a:prstGeom prst="rect">
            <a:avLst/>
          </a:prstGeom>
          <a:noFill/>
          <a:ln/>
        </p:spPr>
        <p:txBody>
          <a:bodyPr wrap="square" lIns="0" tIns="0" rIns="0" bIns="0" rtlCol="0" anchor="t"/>
          <a:lstStyle/>
          <a:p>
            <a:pPr indent="0" marL="0">
              <a:lnSpc>
                <a:spcPct val="105000"/>
              </a:lnSpc>
              <a:buNone/>
            </a:pPr>
            <a:r>
              <a:rPr lang="en-US" sz="1400" b="1" dirty="0">
                <a:solidFill>
                  <a:srgbClr val="000000"/>
                </a:solidFill>
                <a:latin typeface="Noto Sans" pitchFamily="34" charset="0"/>
                <a:ea typeface="Noto Sans" pitchFamily="34" charset="-122"/>
                <a:cs typeface="Noto Sans" pitchFamily="34" charset="-120"/>
              </a:rPr>
              <a:t>Nhãn: </a:t>
            </a:r>
            <a:pPr indent="0" marL="0">
              <a:lnSpc>
                <a:spcPct val="105000"/>
              </a:lnSpc>
              <a:buNone/>
            </a:pPr>
            <a:r>
              <a:rPr lang="en-US" sz="1400" dirty="0">
                <a:solidFill>
                  <a:srgbClr val="000000"/>
                </a:solidFill>
                <a:latin typeface="Noto Sans" pitchFamily="34" charset="0"/>
                <a:ea typeface="Noto Sans" pitchFamily="34" charset="-122"/>
                <a:cs typeface="Noto Sans" pitchFamily="34" charset="-120"/>
              </a:rPr>
              <a:t>BM25 có tìm trượt không (như [1]), thay vì Dense có lợi không như [2].</a:t>
            </a:r>
            <a:endParaRPr lang="en-US" sz="1400" dirty="0"/>
          </a:p>
        </p:txBody>
      </p:sp>
      <p:sp>
        <p:nvSpPr>
          <p:cNvPr id="14" name="Shape 11"/>
          <p:cNvSpPr/>
          <p:nvPr/>
        </p:nvSpPr>
        <p:spPr>
          <a:xfrm>
            <a:off x="4800600" y="3456432"/>
            <a:ext cx="118872" cy="118872"/>
          </a:xfrm>
          <a:prstGeom prst="ellipse">
            <a:avLst/>
          </a:prstGeom>
          <a:solidFill>
            <a:srgbClr val="347A1C"/>
          </a:solidFill>
          <a:ln/>
        </p:spPr>
      </p:sp>
      <p:sp>
        <p:nvSpPr>
          <p:cNvPr id="15" name="Text 12"/>
          <p:cNvSpPr txBox="1"/>
          <p:nvPr/>
        </p:nvSpPr>
        <p:spPr>
          <a:xfrm>
            <a:off x="5029200" y="3383280"/>
            <a:ext cx="3611880" cy="530352"/>
          </a:xfrm>
          <a:prstGeom prst="rect">
            <a:avLst/>
          </a:prstGeom>
          <a:noFill/>
          <a:ln/>
        </p:spPr>
        <p:txBody>
          <a:bodyPr wrap="square" lIns="0" tIns="0" rIns="0" bIns="0" rtlCol="0" anchor="t"/>
          <a:lstStyle/>
          <a:p>
            <a:pPr indent="0" marL="0">
              <a:lnSpc>
                <a:spcPct val="105000"/>
              </a:lnSpc>
              <a:buNone/>
            </a:pPr>
            <a:r>
              <a:rPr lang="en-US" sz="1400" b="1" dirty="0">
                <a:solidFill>
                  <a:srgbClr val="000000"/>
                </a:solidFill>
                <a:latin typeface="Noto Sans" pitchFamily="34" charset="0"/>
                <a:ea typeface="Noto Sans" pitchFamily="34" charset="-122"/>
                <a:cs typeface="Noto Sans" pitchFamily="34" charset="-120"/>
              </a:rPr>
              <a:t>Huấn luyện: </a:t>
            </a:r>
            <a:pPr indent="0" marL="0">
              <a:lnSpc>
                <a:spcPct val="105000"/>
              </a:lnSpc>
              <a:buNone/>
            </a:pPr>
            <a:r>
              <a:rPr lang="en-US" sz="1400" dirty="0">
                <a:solidFill>
                  <a:srgbClr val="000000"/>
                </a:solidFill>
                <a:latin typeface="Noto Sans" pitchFamily="34" charset="0"/>
                <a:ea typeface="Noto Sans" pitchFamily="34" charset="-122"/>
                <a:cs typeface="Noto Sans" pitchFamily="34" charset="-120"/>
              </a:rPr>
              <a:t>nhiều chủ đề, chuẩn hóa theo từng chủ đề; chọn trước tỷ lệ gọi Dense.</a:t>
            </a:r>
            <a:endParaRPr lang="en-US" sz="1400" dirty="0"/>
          </a:p>
        </p:txBody>
      </p:sp>
      <p:sp>
        <p:nvSpPr>
          <p:cNvPr id="25" name="Slide Number Placeholder 0"/>
          <p:cNvSpPr>
            <a:spLocks noGrp="1"/>
          </p:cNvSpPr>
          <p:nvPr>
            <p:ph type="sldNum" sz="quarter" idx="4294967295"/>
          </p:nvPr>
        </p:nvSpPr>
        <p:spPr>
          <a:xfrm>
            <a:off x="8183880" y="46634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0000"/>
                </a:solidFill>
                <a:latin typeface="Lora"/>
                <a:ea typeface="Lora"/>
                <a:cs typeface="Lora"/>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12064" y="128016"/>
            <a:ext cx="8119872" cy="548640"/>
          </a:xfrm>
          <a:prstGeom prst="rect">
            <a:avLst/>
          </a:prstGeom>
          <a:noFill/>
          <a:ln/>
        </p:spPr>
        <p:txBody>
          <a:bodyPr wrap="square" lIns="0" tIns="0" rIns="0" bIns="0" rtlCol="0" anchor="b"/>
          <a:lstStyle/>
          <a:p>
            <a:pPr algn="l" indent="0" marL="0">
              <a:buNone/>
            </a:pPr>
            <a:r>
              <a:rPr lang="en-US" sz="2600" b="1" dirty="0">
                <a:solidFill>
                  <a:srgbClr val="004AAD"/>
                </a:solidFill>
                <a:latin typeface="Noto Sans" pitchFamily="34" charset="0"/>
                <a:ea typeface="Noto Sans" pitchFamily="34" charset="-122"/>
                <a:cs typeface="Noto Sans" pitchFamily="34" charset="-120"/>
              </a:rPr>
              <a:t>PE-GH quyết định điều gì?</a:t>
            </a:r>
            <a:endParaRPr lang="en-US" sz="2600" dirty="0"/>
          </a:p>
        </p:txBody>
      </p:sp>
      <p:sp>
        <p:nvSpPr>
          <p:cNvPr id="4" name="Text 1"/>
          <p:cNvSpPr txBox="1"/>
          <p:nvPr/>
        </p:nvSpPr>
        <p:spPr>
          <a:xfrm>
            <a:off x="512064" y="960120"/>
            <a:ext cx="8119872" cy="685800"/>
          </a:xfrm>
          <a:prstGeom prst="rect">
            <a:avLst/>
          </a:prstGeom>
          <a:noFill/>
          <a:ln/>
        </p:spPr>
        <p:txBody>
          <a:bodyPr wrap="square" lIns="0" tIns="0" rIns="0" bIns="0" rtlCol="0" anchor="t"/>
          <a:lstStyle/>
          <a:p>
            <a:pPr indent="0" marL="0">
              <a:lnSpc>
                <a:spcPct val="105000"/>
              </a:lnSpc>
              <a:buNone/>
            </a:pPr>
            <a:r>
              <a:rPr lang="en-US" sz="1800" dirty="0">
                <a:solidFill>
                  <a:srgbClr val="000000"/>
                </a:solidFill>
                <a:latin typeface="Noto Sans" pitchFamily="34" charset="0"/>
                <a:ea typeface="Noto Sans" pitchFamily="34" charset="-122"/>
                <a:cs typeface="Noto Sans" pitchFamily="34" charset="-120"/>
              </a:rPr>
              <a:t>Gate xem câu hỏi và danh sách BM25, rồi chọn một trong hai nhánh </a:t>
            </a:r>
            <a:pPr indent="0" marL="0">
              <a:lnSpc>
                <a:spcPct val="105000"/>
              </a:lnSpc>
              <a:buNone/>
            </a:pPr>
            <a:r>
              <a:rPr lang="en-US" sz="1800" b="1" dirty="0">
                <a:solidFill>
                  <a:srgbClr val="004AAD"/>
                </a:solidFill>
                <a:latin typeface="Noto Sans" pitchFamily="34" charset="0"/>
                <a:ea typeface="Noto Sans" pitchFamily="34" charset="-122"/>
                <a:cs typeface="Noto Sans" pitchFamily="34" charset="-120"/>
              </a:rPr>
              <a:t>trước khi mã hóa truy vấn</a:t>
            </a:r>
            <a:pPr indent="0" marL="0">
              <a:lnSpc>
                <a:spcPct val="105000"/>
              </a:lnSpc>
              <a:buNone/>
            </a:pPr>
            <a:r>
              <a:rPr lang="en-US" sz="1800" dirty="0">
                <a:solidFill>
                  <a:srgbClr val="000000"/>
                </a:solidFill>
                <a:latin typeface="Noto Sans" pitchFamily="34" charset="0"/>
                <a:ea typeface="Noto Sans" pitchFamily="34" charset="-122"/>
                <a:cs typeface="Noto Sans" pitchFamily="34" charset="-120"/>
              </a:rPr>
              <a:t>.</a:t>
            </a:r>
            <a:endParaRPr lang="en-US" sz="1800" dirty="0"/>
          </a:p>
        </p:txBody>
      </p:sp>
      <p:sp>
        <p:nvSpPr>
          <p:cNvPr id="5" name="Text 2"/>
          <p:cNvSpPr txBox="1"/>
          <p:nvPr/>
        </p:nvSpPr>
        <p:spPr>
          <a:xfrm>
            <a:off x="512064" y="1828800"/>
            <a:ext cx="1097280" cy="868680"/>
          </a:xfrm>
          <a:prstGeom prst="rect">
            <a:avLst/>
          </a:prstGeom>
          <a:noFill/>
          <a:ln/>
        </p:spPr>
        <p:txBody>
          <a:bodyPr wrap="square" lIns="0" tIns="0" rIns="0" bIns="0" rtlCol="0" anchor="ctr"/>
          <a:lstStyle/>
          <a:p>
            <a:pPr indent="0" marL="0">
              <a:lnSpc>
                <a:spcPct val="105000"/>
              </a:lnSpc>
              <a:buNone/>
            </a:pPr>
            <a:r>
              <a:rPr lang="en-US" sz="6400" b="1" dirty="0">
                <a:solidFill>
                  <a:srgbClr val="004AAD"/>
                </a:solidFill>
                <a:latin typeface="Noto Sans" pitchFamily="34" charset="0"/>
                <a:ea typeface="Noto Sans" pitchFamily="34" charset="-122"/>
                <a:cs typeface="Noto Sans" pitchFamily="34" charset="-120"/>
              </a:rPr>
              <a:t>A</a:t>
            </a:r>
            <a:endParaRPr lang="en-US" sz="6400" dirty="0"/>
          </a:p>
        </p:txBody>
      </p:sp>
      <p:sp>
        <p:nvSpPr>
          <p:cNvPr id="6" name="Text 3"/>
          <p:cNvSpPr txBox="1"/>
          <p:nvPr/>
        </p:nvSpPr>
        <p:spPr>
          <a:xfrm>
            <a:off x="512064" y="2743200"/>
            <a:ext cx="3383280" cy="411480"/>
          </a:xfrm>
          <a:prstGeom prst="rect">
            <a:avLst/>
          </a:prstGeom>
          <a:noFill/>
          <a:ln/>
        </p:spPr>
        <p:txBody>
          <a:bodyPr wrap="square" lIns="0" tIns="0" rIns="0" bIns="0" rtlCol="0" anchor="t"/>
          <a:lstStyle/>
          <a:p>
            <a:pPr indent="0" marL="0">
              <a:lnSpc>
                <a:spcPct val="105000"/>
              </a:lnSpc>
              <a:buNone/>
            </a:pPr>
            <a:r>
              <a:rPr lang="en-US" sz="2200" b="1" dirty="0">
                <a:solidFill>
                  <a:srgbClr val="004AAD"/>
                </a:solidFill>
                <a:latin typeface="Noto Sans" pitchFamily="34" charset="0"/>
                <a:ea typeface="Noto Sans" pitchFamily="34" charset="-122"/>
                <a:cs typeface="Noto Sans" pitchFamily="34" charset="-120"/>
              </a:rPr>
              <a:t>Nhánh rẻ</a:t>
            </a:r>
            <a:endParaRPr lang="en-US" sz="2200" dirty="0"/>
          </a:p>
        </p:txBody>
      </p:sp>
      <p:sp>
        <p:nvSpPr>
          <p:cNvPr id="7" name="Text 4"/>
          <p:cNvSpPr txBox="1"/>
          <p:nvPr/>
        </p:nvSpPr>
        <p:spPr>
          <a:xfrm>
            <a:off x="512064" y="3246120"/>
            <a:ext cx="3383280" cy="822960"/>
          </a:xfrm>
          <a:prstGeom prst="rect">
            <a:avLst/>
          </a:prstGeom>
          <a:noFill/>
          <a:ln/>
        </p:spPr>
        <p:txBody>
          <a:bodyPr wrap="square" lIns="0" tIns="0" rIns="0" bIns="0" rtlCol="0" anchor="t"/>
          <a:lstStyle/>
          <a:p>
            <a:pPr indent="0" marL="0">
              <a:lnSpc>
                <a:spcPct val="105000"/>
              </a:lnSpc>
              <a:buNone/>
            </a:pPr>
            <a:r>
              <a:rPr lang="en-US" sz="1600" dirty="0">
                <a:solidFill>
                  <a:srgbClr val="000000"/>
                </a:solidFill>
                <a:latin typeface="Noto Sans" pitchFamily="34" charset="0"/>
                <a:ea typeface="Noto Sans" pitchFamily="34" charset="-122"/>
                <a:cs typeface="Noto Sans" pitchFamily="34" charset="-120"/>
              </a:rPr>
              <a:t>Trả kết quả BM25. Không chạy transformer, không tìm vector.</a:t>
            </a:r>
            <a:endParaRPr lang="en-US" sz="1600" dirty="0"/>
          </a:p>
        </p:txBody>
      </p:sp>
      <p:sp>
        <p:nvSpPr>
          <p:cNvPr id="8" name="Shape 5"/>
          <p:cNvSpPr/>
          <p:nvPr/>
        </p:nvSpPr>
        <p:spPr>
          <a:xfrm>
            <a:off x="4069080" y="1920240"/>
            <a:ext cx="0" cy="2286000"/>
          </a:xfrm>
          <a:prstGeom prst="line">
            <a:avLst/>
          </a:prstGeom>
          <a:noFill/>
          <a:ln w="19050">
            <a:solidFill>
              <a:srgbClr val="D9D9D9"/>
            </a:solidFill>
            <a:prstDash val="solid"/>
          </a:ln>
        </p:spPr>
      </p:sp>
      <p:sp>
        <p:nvSpPr>
          <p:cNvPr id="9" name="Text 6"/>
          <p:cNvSpPr txBox="1"/>
          <p:nvPr/>
        </p:nvSpPr>
        <p:spPr>
          <a:xfrm>
            <a:off x="4069080" y="2743200"/>
            <a:ext cx="1005840" cy="411480"/>
          </a:xfrm>
          <a:prstGeom prst="rect">
            <a:avLst/>
          </a:prstGeom>
          <a:noFill/>
          <a:ln/>
        </p:spPr>
        <p:txBody>
          <a:bodyPr wrap="square" lIns="0" tIns="0" rIns="0" bIns="0" rtlCol="0" anchor="ctr"/>
          <a:lstStyle/>
          <a:p>
            <a:pPr algn="ctr" indent="0" marL="0">
              <a:lnSpc>
                <a:spcPct val="105000"/>
              </a:lnSpc>
              <a:buNone/>
            </a:pPr>
            <a:r>
              <a:rPr lang="en-US" sz="1600" dirty="0">
                <a:solidFill>
                  <a:srgbClr val="000000"/>
                </a:solidFill>
                <a:latin typeface="Noto Sans" pitchFamily="34" charset="0"/>
                <a:ea typeface="Noto Sans" pitchFamily="34" charset="-122"/>
                <a:cs typeface="Noto Sans" pitchFamily="34" charset="-120"/>
              </a:rPr>
              <a:t>GATE</a:t>
            </a:r>
            <a:endParaRPr lang="en-US" sz="1600" dirty="0"/>
          </a:p>
        </p:txBody>
      </p:sp>
      <p:sp>
        <p:nvSpPr>
          <p:cNvPr id="10" name="Shape 7"/>
          <p:cNvSpPr/>
          <p:nvPr/>
        </p:nvSpPr>
        <p:spPr>
          <a:xfrm>
            <a:off x="5074920" y="1920240"/>
            <a:ext cx="0" cy="2286000"/>
          </a:xfrm>
          <a:prstGeom prst="line">
            <a:avLst/>
          </a:prstGeom>
          <a:noFill/>
          <a:ln w="19050">
            <a:solidFill>
              <a:srgbClr val="D9D9D9"/>
            </a:solidFill>
            <a:prstDash val="solid"/>
          </a:ln>
        </p:spPr>
      </p:sp>
      <p:sp>
        <p:nvSpPr>
          <p:cNvPr id="11" name="Text 8"/>
          <p:cNvSpPr txBox="1"/>
          <p:nvPr/>
        </p:nvSpPr>
        <p:spPr>
          <a:xfrm>
            <a:off x="5349240" y="1828800"/>
            <a:ext cx="1097280" cy="868680"/>
          </a:xfrm>
          <a:prstGeom prst="rect">
            <a:avLst/>
          </a:prstGeom>
          <a:noFill/>
          <a:ln/>
        </p:spPr>
        <p:txBody>
          <a:bodyPr wrap="square" lIns="0" tIns="0" rIns="0" bIns="0" rtlCol="0" anchor="ctr"/>
          <a:lstStyle/>
          <a:p>
            <a:pPr indent="0" marL="0">
              <a:lnSpc>
                <a:spcPct val="105000"/>
              </a:lnSpc>
              <a:buNone/>
            </a:pPr>
            <a:r>
              <a:rPr lang="en-US" sz="6400" b="1" dirty="0">
                <a:solidFill>
                  <a:srgbClr val="004AAD"/>
                </a:solidFill>
                <a:latin typeface="Noto Sans" pitchFamily="34" charset="0"/>
                <a:ea typeface="Noto Sans" pitchFamily="34" charset="-122"/>
                <a:cs typeface="Noto Sans" pitchFamily="34" charset="-120"/>
              </a:rPr>
              <a:t>B</a:t>
            </a:r>
            <a:endParaRPr lang="en-US" sz="6400" dirty="0"/>
          </a:p>
        </p:txBody>
      </p:sp>
      <p:sp>
        <p:nvSpPr>
          <p:cNvPr id="12" name="Text 9"/>
          <p:cNvSpPr txBox="1"/>
          <p:nvPr/>
        </p:nvSpPr>
        <p:spPr>
          <a:xfrm>
            <a:off x="5349240" y="2743200"/>
            <a:ext cx="3291840" cy="411480"/>
          </a:xfrm>
          <a:prstGeom prst="rect">
            <a:avLst/>
          </a:prstGeom>
          <a:noFill/>
          <a:ln/>
        </p:spPr>
        <p:txBody>
          <a:bodyPr wrap="square" lIns="0" tIns="0" rIns="0" bIns="0" rtlCol="0" anchor="t"/>
          <a:lstStyle/>
          <a:p>
            <a:pPr indent="0" marL="0">
              <a:lnSpc>
                <a:spcPct val="105000"/>
              </a:lnSpc>
              <a:buNone/>
            </a:pPr>
            <a:r>
              <a:rPr lang="en-US" sz="2200" b="1" dirty="0">
                <a:solidFill>
                  <a:srgbClr val="004AAD"/>
                </a:solidFill>
                <a:latin typeface="Noto Sans" pitchFamily="34" charset="0"/>
                <a:ea typeface="Noto Sans" pitchFamily="34" charset="-122"/>
                <a:cs typeface="Noto Sans" pitchFamily="34" charset="-120"/>
              </a:rPr>
              <a:t>Nhánh đầy đủ</a:t>
            </a:r>
            <a:endParaRPr lang="en-US" sz="2200" dirty="0"/>
          </a:p>
        </p:txBody>
      </p:sp>
      <p:sp>
        <p:nvSpPr>
          <p:cNvPr id="13" name="Text 10"/>
          <p:cNvSpPr txBox="1"/>
          <p:nvPr/>
        </p:nvSpPr>
        <p:spPr>
          <a:xfrm>
            <a:off x="5349240" y="3246120"/>
            <a:ext cx="3291840" cy="822960"/>
          </a:xfrm>
          <a:prstGeom prst="rect">
            <a:avLst/>
          </a:prstGeom>
          <a:noFill/>
          <a:ln/>
        </p:spPr>
        <p:txBody>
          <a:bodyPr wrap="square" lIns="0" tIns="0" rIns="0" bIns="0" rtlCol="0" anchor="t"/>
          <a:lstStyle/>
          <a:p>
            <a:pPr indent="0" marL="0">
              <a:lnSpc>
                <a:spcPct val="105000"/>
              </a:lnSpc>
              <a:buNone/>
            </a:pPr>
            <a:r>
              <a:rPr lang="en-US" sz="1600" dirty="0">
                <a:solidFill>
                  <a:srgbClr val="000000"/>
                </a:solidFill>
                <a:latin typeface="Noto Sans" pitchFamily="34" charset="0"/>
                <a:ea typeface="Noto Sans" pitchFamily="34" charset="-122"/>
                <a:cs typeface="Noto Sans" pitchFamily="34" charset="-120"/>
              </a:rPr>
              <a:t>Mã hóa truy vấn, tìm vector, kết hợp với kết quả BM25 đã có.</a:t>
            </a:r>
            <a:endParaRPr lang="en-US" sz="1600" dirty="0"/>
          </a:p>
        </p:txBody>
      </p:sp>
      <p:sp>
        <p:nvSpPr>
          <p:cNvPr id="25" name="Slide Number Placeholder 0"/>
          <p:cNvSpPr>
            <a:spLocks noGrp="1"/>
          </p:cNvSpPr>
          <p:nvPr>
            <p:ph type="sldNum" sz="quarter" idx="4294967295"/>
          </p:nvPr>
        </p:nvSpPr>
        <p:spPr>
          <a:xfrm>
            <a:off x="8183880" y="46634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0000"/>
                </a:solidFill>
                <a:latin typeface="Lora"/>
                <a:ea typeface="Lora"/>
                <a:cs typeface="Lora"/>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12064" y="128016"/>
            <a:ext cx="8119872" cy="548640"/>
          </a:xfrm>
          <a:prstGeom prst="rect">
            <a:avLst/>
          </a:prstGeom>
          <a:noFill/>
          <a:ln/>
        </p:spPr>
        <p:txBody>
          <a:bodyPr wrap="square" lIns="0" tIns="0" rIns="0" bIns="0" rtlCol="0" anchor="b"/>
          <a:lstStyle/>
          <a:p>
            <a:pPr algn="l" indent="0" marL="0">
              <a:buNone/>
            </a:pPr>
            <a:r>
              <a:rPr lang="en-US" sz="2600" b="1" dirty="0">
                <a:solidFill>
                  <a:srgbClr val="004AAD"/>
                </a:solidFill>
                <a:latin typeface="Noto Sans" pitchFamily="34" charset="0"/>
                <a:ea typeface="Noto Sans" pitchFamily="34" charset="-122"/>
                <a:cs typeface="Noto Sans" pitchFamily="34" charset="-120"/>
              </a:rPr>
              <a:t>Một truy vấn trong PE-GH</a:t>
            </a:r>
            <a:endParaRPr lang="en-US" sz="2600" dirty="0"/>
          </a:p>
        </p:txBody>
      </p:sp>
      <p:sp>
        <p:nvSpPr>
          <p:cNvPr id="4" name="Text 1"/>
          <p:cNvSpPr txBox="1"/>
          <p:nvPr/>
        </p:nvSpPr>
        <p:spPr>
          <a:xfrm>
            <a:off x="512064" y="914400"/>
            <a:ext cx="8119872" cy="640080"/>
          </a:xfrm>
          <a:prstGeom prst="rect">
            <a:avLst/>
          </a:prstGeom>
          <a:noFill/>
          <a:ln/>
        </p:spPr>
        <p:txBody>
          <a:bodyPr wrap="square" lIns="0" tIns="0" rIns="0" bIns="0" rtlCol="0" anchor="t"/>
          <a:lstStyle/>
          <a:p>
            <a:pPr indent="0" marL="0">
              <a:lnSpc>
                <a:spcPct val="105000"/>
              </a:lnSpc>
              <a:buNone/>
            </a:pPr>
            <a:r>
              <a:rPr lang="en-US" sz="1650" dirty="0">
                <a:solidFill>
                  <a:srgbClr val="000000"/>
                </a:solidFill>
                <a:latin typeface="Noto Sans" pitchFamily="34" charset="0"/>
                <a:ea typeface="Noto Sans" pitchFamily="34" charset="-122"/>
                <a:cs typeface="Noto Sans" pitchFamily="34" charset="-120"/>
              </a:rPr>
              <a:t>BM25 chạy một lần. Gate quyết định trước khi mã hóa truy vấn. Vector tài liệu và chỉ mục được chuẩn bị trước.</a:t>
            </a:r>
            <a:endParaRPr lang="en-US" sz="1650" dirty="0"/>
          </a:p>
        </p:txBody>
      </p:sp>
      <p:sp>
        <p:nvSpPr>
          <p:cNvPr id="5" name="Shape 2"/>
          <p:cNvSpPr/>
          <p:nvPr/>
        </p:nvSpPr>
        <p:spPr>
          <a:xfrm>
            <a:off x="512064" y="1828800"/>
            <a:ext cx="1298448" cy="777240"/>
          </a:xfrm>
          <a:prstGeom prst="rect">
            <a:avLst/>
          </a:prstGeom>
          <a:solidFill>
            <a:srgbClr val="FFFFFF"/>
          </a:solidFill>
          <a:ln w="15875">
            <a:solidFill>
              <a:srgbClr val="004AAD"/>
            </a:solidFill>
            <a:prstDash val="solid"/>
          </a:ln>
        </p:spPr>
      </p:sp>
      <p:sp>
        <p:nvSpPr>
          <p:cNvPr id="6" name="Text 3"/>
          <p:cNvSpPr txBox="1"/>
          <p:nvPr/>
        </p:nvSpPr>
        <p:spPr>
          <a:xfrm>
            <a:off x="512064" y="1828800"/>
            <a:ext cx="1298448" cy="777240"/>
          </a:xfrm>
          <a:prstGeom prst="rect">
            <a:avLst/>
          </a:prstGeom>
          <a:noFill/>
          <a:ln/>
        </p:spPr>
        <p:txBody>
          <a:bodyPr wrap="square" lIns="0" tIns="0" rIns="0" bIns="0" rtlCol="0" anchor="ctr"/>
          <a:lstStyle/>
          <a:p>
            <a:pPr algn="ctr" indent="0" marL="0">
              <a:lnSpc>
                <a:spcPct val="105000"/>
              </a:lnSpc>
              <a:buNone/>
            </a:pPr>
            <a:r>
              <a:rPr lang="en-US" sz="1600" b="1" dirty="0">
                <a:solidFill>
                  <a:srgbClr val="004AAD"/>
                </a:solidFill>
                <a:latin typeface="Arial" pitchFamily="34" charset="0"/>
                <a:ea typeface="Arial" pitchFamily="34" charset="-122"/>
                <a:cs typeface="Arial" pitchFamily="34" charset="-120"/>
              </a:rPr>
              <a:t>Truy vấn</a:t>
            </a:r>
            <a:endParaRPr lang="en-US" sz="1600" dirty="0"/>
          </a:p>
          <a:p>
            <a:pPr algn="ctr" indent="0" marL="0">
              <a:lnSpc>
                <a:spcPct val="105000"/>
              </a:lnSpc>
              <a:buNone/>
            </a:pPr>
            <a:r>
              <a:rPr lang="en-US" sz="1200" dirty="0">
                <a:solidFill>
                  <a:srgbClr val="161616"/>
                </a:solidFill>
                <a:latin typeface="Arial" pitchFamily="34" charset="0"/>
                <a:ea typeface="Arial" pitchFamily="34" charset="-122"/>
                <a:cs typeface="Arial" pitchFamily="34" charset="-120"/>
              </a:rPr>
              <a:t>Câu hỏi tiếng Anh</a:t>
            </a:r>
            <a:endParaRPr lang="en-US" sz="1600" dirty="0"/>
          </a:p>
        </p:txBody>
      </p:sp>
      <p:sp>
        <p:nvSpPr>
          <p:cNvPr id="7" name="Shape 4"/>
          <p:cNvSpPr/>
          <p:nvPr/>
        </p:nvSpPr>
        <p:spPr>
          <a:xfrm>
            <a:off x="1810512" y="2217420"/>
            <a:ext cx="402336" cy="0"/>
          </a:xfrm>
          <a:prstGeom prst="line">
            <a:avLst/>
          </a:prstGeom>
          <a:noFill/>
          <a:ln w="19050">
            <a:solidFill>
              <a:srgbClr val="004AAD"/>
            </a:solidFill>
            <a:prstDash val="solid"/>
            <a:tailEnd type="triangle"/>
          </a:ln>
        </p:spPr>
      </p:sp>
      <p:sp>
        <p:nvSpPr>
          <p:cNvPr id="8" name="Shape 5"/>
          <p:cNvSpPr/>
          <p:nvPr/>
        </p:nvSpPr>
        <p:spPr>
          <a:xfrm>
            <a:off x="2212848" y="1828800"/>
            <a:ext cx="1298448" cy="777240"/>
          </a:xfrm>
          <a:prstGeom prst="rect">
            <a:avLst/>
          </a:prstGeom>
          <a:solidFill>
            <a:srgbClr val="FFFFFF"/>
          </a:solidFill>
          <a:ln w="15875">
            <a:solidFill>
              <a:srgbClr val="004AAD"/>
            </a:solidFill>
            <a:prstDash val="solid"/>
          </a:ln>
        </p:spPr>
      </p:sp>
      <p:sp>
        <p:nvSpPr>
          <p:cNvPr id="9" name="Text 6"/>
          <p:cNvSpPr txBox="1"/>
          <p:nvPr/>
        </p:nvSpPr>
        <p:spPr>
          <a:xfrm>
            <a:off x="2212848" y="1828800"/>
            <a:ext cx="1298448" cy="777240"/>
          </a:xfrm>
          <a:prstGeom prst="rect">
            <a:avLst/>
          </a:prstGeom>
          <a:noFill/>
          <a:ln/>
        </p:spPr>
        <p:txBody>
          <a:bodyPr wrap="square" lIns="0" tIns="0" rIns="0" bIns="0" rtlCol="0" anchor="ctr"/>
          <a:lstStyle/>
          <a:p>
            <a:pPr algn="ctr" indent="0" marL="0">
              <a:lnSpc>
                <a:spcPct val="105000"/>
              </a:lnSpc>
              <a:buNone/>
            </a:pPr>
            <a:r>
              <a:rPr lang="en-US" sz="1600" b="1" dirty="0">
                <a:solidFill>
                  <a:srgbClr val="004AAD"/>
                </a:solidFill>
                <a:latin typeface="Arial" pitchFamily="34" charset="0"/>
                <a:ea typeface="Arial" pitchFamily="34" charset="-122"/>
                <a:cs typeface="Arial" pitchFamily="34" charset="-120"/>
              </a:rPr>
              <a:t>BM25</a:t>
            </a:r>
            <a:endParaRPr lang="en-US" sz="1600" dirty="0"/>
          </a:p>
          <a:p>
            <a:pPr algn="ctr" indent="0" marL="0">
              <a:lnSpc>
                <a:spcPct val="105000"/>
              </a:lnSpc>
              <a:buNone/>
            </a:pPr>
            <a:r>
              <a:rPr lang="en-US" sz="1200" dirty="0">
                <a:solidFill>
                  <a:srgbClr val="161616"/>
                </a:solidFill>
                <a:latin typeface="Arial" pitchFamily="34" charset="0"/>
                <a:ea typeface="Arial" pitchFamily="34" charset="-122"/>
                <a:cs typeface="Arial" pitchFamily="34" charset="-120"/>
              </a:rPr>
              <a:t>Top-100 + điểm</a:t>
            </a:r>
            <a:endParaRPr lang="en-US" sz="1600" dirty="0"/>
          </a:p>
        </p:txBody>
      </p:sp>
      <p:sp>
        <p:nvSpPr>
          <p:cNvPr id="10" name="Shape 7"/>
          <p:cNvSpPr/>
          <p:nvPr/>
        </p:nvSpPr>
        <p:spPr>
          <a:xfrm>
            <a:off x="3511296" y="2217420"/>
            <a:ext cx="548640" cy="0"/>
          </a:xfrm>
          <a:prstGeom prst="line">
            <a:avLst/>
          </a:prstGeom>
          <a:noFill/>
          <a:ln w="19050">
            <a:solidFill>
              <a:srgbClr val="004AAD"/>
            </a:solidFill>
            <a:prstDash val="solid"/>
            <a:tailEnd type="triangle"/>
          </a:ln>
        </p:spPr>
      </p:sp>
      <p:sp>
        <p:nvSpPr>
          <p:cNvPr id="11" name="Shape 8"/>
          <p:cNvSpPr/>
          <p:nvPr/>
        </p:nvSpPr>
        <p:spPr>
          <a:xfrm>
            <a:off x="4059936" y="1783080"/>
            <a:ext cx="1600200" cy="868680"/>
          </a:xfrm>
          <a:prstGeom prst="rect">
            <a:avLst/>
          </a:prstGeom>
          <a:solidFill>
            <a:srgbClr val="004AAD"/>
          </a:solidFill>
          <a:ln w="15875">
            <a:solidFill>
              <a:srgbClr val="004AAD"/>
            </a:solidFill>
            <a:prstDash val="solid"/>
          </a:ln>
        </p:spPr>
      </p:sp>
      <p:sp>
        <p:nvSpPr>
          <p:cNvPr id="12" name="Text 9"/>
          <p:cNvSpPr txBox="1"/>
          <p:nvPr/>
        </p:nvSpPr>
        <p:spPr>
          <a:xfrm>
            <a:off x="4059936" y="1783080"/>
            <a:ext cx="1600200" cy="868680"/>
          </a:xfrm>
          <a:prstGeom prst="rect">
            <a:avLst/>
          </a:prstGeom>
          <a:noFill/>
          <a:ln/>
        </p:spPr>
        <p:txBody>
          <a:bodyPr wrap="square" lIns="0" tIns="0" rIns="0" bIns="0" rtlCol="0" anchor="ctr"/>
          <a:lstStyle/>
          <a:p>
            <a:pPr algn="ctr" indent="0" marL="0">
              <a:lnSpc>
                <a:spcPct val="105000"/>
              </a:lnSpc>
              <a:buNone/>
            </a:pPr>
            <a:r>
              <a:rPr lang="en-US" sz="1600" b="1" dirty="0">
                <a:solidFill>
                  <a:srgbClr val="FFFFFF"/>
                </a:solidFill>
                <a:latin typeface="Arial" pitchFamily="34" charset="0"/>
                <a:ea typeface="Arial" pitchFamily="34" charset="-122"/>
                <a:cs typeface="Arial" pitchFamily="34" charset="-120"/>
              </a:rPr>
              <a:t>Gate</a:t>
            </a:r>
            <a:endParaRPr lang="en-US" sz="1600" dirty="0"/>
          </a:p>
          <a:p>
            <a:pPr algn="ctr" indent="0" marL="0">
              <a:lnSpc>
                <a:spcPct val="105000"/>
              </a:lnSpc>
              <a:buNone/>
            </a:pPr>
            <a:r>
              <a:rPr lang="en-US" sz="1200" dirty="0">
                <a:solidFill>
                  <a:srgbClr val="FFFFFF"/>
                </a:solidFill>
                <a:latin typeface="Arial" pitchFamily="34" charset="0"/>
                <a:ea typeface="Arial" pitchFamily="34" charset="-122"/>
                <a:cs typeface="Arial" pitchFamily="34" charset="-120"/>
              </a:rPr>
              <a:t>Đặc trưng + logistic</a:t>
            </a:r>
            <a:endParaRPr lang="en-US" sz="1600" dirty="0"/>
          </a:p>
          <a:p>
            <a:pPr algn="ctr" indent="0" marL="0">
              <a:lnSpc>
                <a:spcPct val="105000"/>
              </a:lnSpc>
              <a:buNone/>
            </a:pPr>
            <a:r>
              <a:rPr lang="en-US" sz="1200" dirty="0">
                <a:solidFill>
                  <a:srgbClr val="FFFFFF"/>
                </a:solidFill>
                <a:latin typeface="Arial" pitchFamily="34" charset="0"/>
                <a:ea typeface="Arial" pitchFamily="34" charset="-122"/>
                <a:cs typeface="Arial" pitchFamily="34" charset="-120"/>
              </a:rPr>
              <a:t>So điểm với ngưỡng τ</a:t>
            </a:r>
            <a:endParaRPr lang="en-US" sz="1600" dirty="0"/>
          </a:p>
        </p:txBody>
      </p:sp>
      <p:sp>
        <p:nvSpPr>
          <p:cNvPr id="13" name="Shape 10"/>
          <p:cNvSpPr/>
          <p:nvPr/>
        </p:nvSpPr>
        <p:spPr>
          <a:xfrm>
            <a:off x="5660136" y="2217420"/>
            <a:ext cx="1124712" cy="0"/>
          </a:xfrm>
          <a:prstGeom prst="line">
            <a:avLst/>
          </a:prstGeom>
          <a:noFill/>
          <a:ln w="19050">
            <a:solidFill>
              <a:srgbClr val="004AAD"/>
            </a:solidFill>
            <a:prstDash val="solid"/>
            <a:tailEnd type="triangle"/>
          </a:ln>
        </p:spPr>
      </p:sp>
      <p:sp>
        <p:nvSpPr>
          <p:cNvPr id="14" name="Text 11"/>
          <p:cNvSpPr txBox="1"/>
          <p:nvPr/>
        </p:nvSpPr>
        <p:spPr>
          <a:xfrm>
            <a:off x="5669280" y="1847088"/>
            <a:ext cx="1097280" cy="274320"/>
          </a:xfrm>
          <a:prstGeom prst="rect">
            <a:avLst/>
          </a:prstGeom>
          <a:noFill/>
          <a:ln/>
        </p:spPr>
        <p:txBody>
          <a:bodyPr wrap="square" lIns="0" tIns="0" rIns="0" bIns="0" rtlCol="0" anchor="t"/>
          <a:lstStyle/>
          <a:p>
            <a:pPr algn="ctr" indent="0" marL="0">
              <a:lnSpc>
                <a:spcPct val="105000"/>
              </a:lnSpc>
              <a:buNone/>
            </a:pPr>
            <a:r>
              <a:rPr lang="en-US" sz="1300" dirty="0">
                <a:solidFill>
                  <a:srgbClr val="004AAD"/>
                </a:solidFill>
                <a:latin typeface="Arial" pitchFamily="34" charset="0"/>
                <a:ea typeface="Arial" pitchFamily="34" charset="-122"/>
                <a:cs typeface="Arial" pitchFamily="34" charset="-120"/>
              </a:rPr>
              <a:t>điểm ≤ τ</a:t>
            </a:r>
            <a:endParaRPr lang="en-US" sz="1300" dirty="0"/>
          </a:p>
        </p:txBody>
      </p:sp>
      <p:sp>
        <p:nvSpPr>
          <p:cNvPr id="15" name="Shape 12"/>
          <p:cNvSpPr/>
          <p:nvPr/>
        </p:nvSpPr>
        <p:spPr>
          <a:xfrm>
            <a:off x="6784848" y="1828800"/>
            <a:ext cx="1828800" cy="777240"/>
          </a:xfrm>
          <a:prstGeom prst="rect">
            <a:avLst/>
          </a:prstGeom>
          <a:solidFill>
            <a:srgbClr val="F0F5FC"/>
          </a:solidFill>
          <a:ln w="15875">
            <a:solidFill>
              <a:srgbClr val="004AAD"/>
            </a:solidFill>
            <a:prstDash val="solid"/>
          </a:ln>
        </p:spPr>
      </p:sp>
      <p:sp>
        <p:nvSpPr>
          <p:cNvPr id="16" name="Text 13"/>
          <p:cNvSpPr txBox="1"/>
          <p:nvPr/>
        </p:nvSpPr>
        <p:spPr>
          <a:xfrm>
            <a:off x="6784848" y="1828800"/>
            <a:ext cx="1828800" cy="777240"/>
          </a:xfrm>
          <a:prstGeom prst="rect">
            <a:avLst/>
          </a:prstGeom>
          <a:noFill/>
          <a:ln/>
        </p:spPr>
        <p:txBody>
          <a:bodyPr wrap="square" lIns="0" tIns="0" rIns="0" bIns="0" rtlCol="0" anchor="ctr"/>
          <a:lstStyle/>
          <a:p>
            <a:pPr algn="ctr" indent="0" marL="0">
              <a:lnSpc>
                <a:spcPct val="105000"/>
              </a:lnSpc>
              <a:buNone/>
            </a:pPr>
            <a:r>
              <a:rPr lang="en-US" sz="1600" b="1" dirty="0">
                <a:solidFill>
                  <a:srgbClr val="004AAD"/>
                </a:solidFill>
                <a:latin typeface="Arial" pitchFamily="34" charset="0"/>
                <a:ea typeface="Arial" pitchFamily="34" charset="-122"/>
                <a:cs typeface="Arial" pitchFamily="34" charset="-120"/>
              </a:rPr>
              <a:t>Nhánh rẻ</a:t>
            </a:r>
            <a:endParaRPr lang="en-US" sz="1600" dirty="0"/>
          </a:p>
          <a:p>
            <a:pPr algn="ctr" indent="0" marL="0">
              <a:lnSpc>
                <a:spcPct val="105000"/>
              </a:lnSpc>
              <a:buNone/>
            </a:pPr>
            <a:r>
              <a:rPr lang="en-US" sz="1200" dirty="0">
                <a:solidFill>
                  <a:srgbClr val="161616"/>
                </a:solidFill>
                <a:latin typeface="Arial" pitchFamily="34" charset="0"/>
                <a:ea typeface="Arial" pitchFamily="34" charset="-122"/>
                <a:cs typeface="Arial" pitchFamily="34" charset="-120"/>
              </a:rPr>
              <a:t>Trả BM25, bỏ qua Dense</a:t>
            </a:r>
            <a:endParaRPr lang="en-US" sz="1600" dirty="0"/>
          </a:p>
        </p:txBody>
      </p:sp>
      <p:sp>
        <p:nvSpPr>
          <p:cNvPr id="17" name="Shape 14"/>
          <p:cNvSpPr/>
          <p:nvPr/>
        </p:nvSpPr>
        <p:spPr>
          <a:xfrm>
            <a:off x="4860036" y="2651760"/>
            <a:ext cx="0" cy="384048"/>
          </a:xfrm>
          <a:prstGeom prst="line">
            <a:avLst/>
          </a:prstGeom>
          <a:noFill/>
          <a:ln w="19050">
            <a:solidFill>
              <a:srgbClr val="347A1C"/>
            </a:solidFill>
            <a:prstDash val="solid"/>
          </a:ln>
        </p:spPr>
      </p:sp>
      <p:sp>
        <p:nvSpPr>
          <p:cNvPr id="18" name="Shape 15"/>
          <p:cNvSpPr/>
          <p:nvPr/>
        </p:nvSpPr>
        <p:spPr>
          <a:xfrm>
            <a:off x="1380744" y="3035808"/>
            <a:ext cx="3479292" cy="0"/>
          </a:xfrm>
          <a:prstGeom prst="line">
            <a:avLst/>
          </a:prstGeom>
          <a:noFill/>
          <a:ln w="19050">
            <a:solidFill>
              <a:srgbClr val="347A1C"/>
            </a:solidFill>
            <a:prstDash val="solid"/>
          </a:ln>
        </p:spPr>
      </p:sp>
      <p:sp>
        <p:nvSpPr>
          <p:cNvPr id="19" name="Shape 16"/>
          <p:cNvSpPr/>
          <p:nvPr/>
        </p:nvSpPr>
        <p:spPr>
          <a:xfrm>
            <a:off x="1380744" y="3035808"/>
            <a:ext cx="0" cy="484632"/>
          </a:xfrm>
          <a:prstGeom prst="line">
            <a:avLst/>
          </a:prstGeom>
          <a:noFill/>
          <a:ln w="19050">
            <a:solidFill>
              <a:srgbClr val="347A1C"/>
            </a:solidFill>
            <a:prstDash val="solid"/>
            <a:tailEnd type="triangle"/>
          </a:ln>
        </p:spPr>
      </p:sp>
      <p:sp>
        <p:nvSpPr>
          <p:cNvPr id="20" name="Text 17"/>
          <p:cNvSpPr txBox="1"/>
          <p:nvPr/>
        </p:nvSpPr>
        <p:spPr>
          <a:xfrm>
            <a:off x="2194560" y="2743200"/>
            <a:ext cx="1097280" cy="274320"/>
          </a:xfrm>
          <a:prstGeom prst="rect">
            <a:avLst/>
          </a:prstGeom>
          <a:noFill/>
          <a:ln/>
        </p:spPr>
        <p:txBody>
          <a:bodyPr wrap="square" lIns="0" tIns="0" rIns="0" bIns="0" rtlCol="0" anchor="t"/>
          <a:lstStyle/>
          <a:p>
            <a:pPr algn="ctr" indent="0" marL="0">
              <a:lnSpc>
                <a:spcPct val="105000"/>
              </a:lnSpc>
              <a:buNone/>
            </a:pPr>
            <a:r>
              <a:rPr lang="en-US" sz="1300" dirty="0">
                <a:solidFill>
                  <a:srgbClr val="347A1C"/>
                </a:solidFill>
                <a:latin typeface="Arial" pitchFamily="34" charset="0"/>
                <a:ea typeface="Arial" pitchFamily="34" charset="-122"/>
                <a:cs typeface="Arial" pitchFamily="34" charset="-120"/>
              </a:rPr>
              <a:t>điểm &gt; τ</a:t>
            </a:r>
            <a:endParaRPr lang="en-US" sz="1300" dirty="0"/>
          </a:p>
        </p:txBody>
      </p:sp>
      <p:sp>
        <p:nvSpPr>
          <p:cNvPr id="21" name="Shape 18"/>
          <p:cNvSpPr/>
          <p:nvPr/>
        </p:nvSpPr>
        <p:spPr>
          <a:xfrm>
            <a:off x="512064" y="3520440"/>
            <a:ext cx="1737360" cy="731520"/>
          </a:xfrm>
          <a:prstGeom prst="rect">
            <a:avLst/>
          </a:prstGeom>
          <a:solidFill>
            <a:srgbClr val="FFFFFF"/>
          </a:solidFill>
          <a:ln w="15875">
            <a:solidFill>
              <a:srgbClr val="347A1C"/>
            </a:solidFill>
            <a:prstDash val="solid"/>
          </a:ln>
        </p:spPr>
      </p:sp>
      <p:sp>
        <p:nvSpPr>
          <p:cNvPr id="22" name="Text 19"/>
          <p:cNvSpPr txBox="1"/>
          <p:nvPr/>
        </p:nvSpPr>
        <p:spPr>
          <a:xfrm>
            <a:off x="512064" y="3520440"/>
            <a:ext cx="1737360" cy="731520"/>
          </a:xfrm>
          <a:prstGeom prst="rect">
            <a:avLst/>
          </a:prstGeom>
          <a:noFill/>
          <a:ln/>
        </p:spPr>
        <p:txBody>
          <a:bodyPr wrap="square" lIns="0" tIns="0" rIns="0" bIns="0" rtlCol="0" anchor="ctr"/>
          <a:lstStyle/>
          <a:p>
            <a:pPr algn="ctr" indent="0" marL="0">
              <a:lnSpc>
                <a:spcPct val="105000"/>
              </a:lnSpc>
              <a:buNone/>
            </a:pPr>
            <a:r>
              <a:rPr lang="en-US" sz="1600" b="1" dirty="0">
                <a:solidFill>
                  <a:srgbClr val="347A1C"/>
                </a:solidFill>
                <a:latin typeface="Arial" pitchFamily="34" charset="0"/>
                <a:ea typeface="Arial" pitchFamily="34" charset="-122"/>
                <a:cs typeface="Arial" pitchFamily="34" charset="-120"/>
              </a:rPr>
              <a:t>Encoder</a:t>
            </a:r>
            <a:endParaRPr lang="en-US" sz="1600" dirty="0"/>
          </a:p>
          <a:p>
            <a:pPr algn="ctr" indent="0" marL="0">
              <a:lnSpc>
                <a:spcPct val="105000"/>
              </a:lnSpc>
              <a:buNone/>
            </a:pPr>
            <a:r>
              <a:rPr lang="en-US" sz="1200" dirty="0">
                <a:solidFill>
                  <a:srgbClr val="161616"/>
                </a:solidFill>
                <a:latin typeface="Arial" pitchFamily="34" charset="0"/>
                <a:ea typeface="Arial" pitchFamily="34" charset="-122"/>
                <a:cs typeface="Arial" pitchFamily="34" charset="-120"/>
              </a:rPr>
              <a:t>arctic-embed-xs</a:t>
            </a:r>
            <a:endParaRPr lang="en-US" sz="1600" dirty="0"/>
          </a:p>
          <a:p>
            <a:pPr algn="ctr" indent="0" marL="0">
              <a:lnSpc>
                <a:spcPct val="105000"/>
              </a:lnSpc>
              <a:buNone/>
            </a:pPr>
            <a:r>
              <a:rPr lang="en-US" sz="1200" dirty="0">
                <a:solidFill>
                  <a:srgbClr val="161616"/>
                </a:solidFill>
                <a:latin typeface="Arial" pitchFamily="34" charset="0"/>
                <a:ea typeface="Arial" pitchFamily="34" charset="-122"/>
                <a:cs typeface="Arial" pitchFamily="34" charset="-120"/>
              </a:rPr>
              <a:t>Mã hóa truy vấn</a:t>
            </a:r>
            <a:endParaRPr lang="en-US" sz="1600" dirty="0"/>
          </a:p>
        </p:txBody>
      </p:sp>
      <p:sp>
        <p:nvSpPr>
          <p:cNvPr id="23" name="Shape 20"/>
          <p:cNvSpPr/>
          <p:nvPr/>
        </p:nvSpPr>
        <p:spPr>
          <a:xfrm>
            <a:off x="2249424" y="3886200"/>
            <a:ext cx="1152144" cy="0"/>
          </a:xfrm>
          <a:prstGeom prst="line">
            <a:avLst/>
          </a:prstGeom>
          <a:noFill/>
          <a:ln w="19050">
            <a:solidFill>
              <a:srgbClr val="347A1C"/>
            </a:solidFill>
            <a:prstDash val="solid"/>
            <a:tailEnd type="triangle"/>
          </a:ln>
        </p:spPr>
      </p:sp>
      <p:sp>
        <p:nvSpPr>
          <p:cNvPr id="24" name="Shape 21"/>
          <p:cNvSpPr/>
          <p:nvPr/>
        </p:nvSpPr>
        <p:spPr>
          <a:xfrm>
            <a:off x="3401568" y="3520440"/>
            <a:ext cx="1737360" cy="731520"/>
          </a:xfrm>
          <a:prstGeom prst="rect">
            <a:avLst/>
          </a:prstGeom>
          <a:solidFill>
            <a:srgbClr val="FFFFFF"/>
          </a:solidFill>
          <a:ln w="15875">
            <a:solidFill>
              <a:srgbClr val="347A1C"/>
            </a:solidFill>
            <a:prstDash val="solid"/>
          </a:ln>
        </p:spPr>
      </p:sp>
      <p:sp>
        <p:nvSpPr>
          <p:cNvPr id="25" name="Text 22"/>
          <p:cNvSpPr txBox="1"/>
          <p:nvPr/>
        </p:nvSpPr>
        <p:spPr>
          <a:xfrm>
            <a:off x="3401568" y="3520440"/>
            <a:ext cx="1737360" cy="731520"/>
          </a:xfrm>
          <a:prstGeom prst="rect">
            <a:avLst/>
          </a:prstGeom>
          <a:noFill/>
          <a:ln/>
        </p:spPr>
        <p:txBody>
          <a:bodyPr wrap="square" lIns="0" tIns="0" rIns="0" bIns="0" rtlCol="0" anchor="ctr"/>
          <a:lstStyle/>
          <a:p>
            <a:pPr algn="ctr" indent="0" marL="0">
              <a:lnSpc>
                <a:spcPct val="105000"/>
              </a:lnSpc>
              <a:buNone/>
            </a:pPr>
            <a:r>
              <a:rPr lang="en-US" sz="1600" b="1" dirty="0">
                <a:solidFill>
                  <a:srgbClr val="347A1C"/>
                </a:solidFill>
                <a:latin typeface="Arial" pitchFamily="34" charset="0"/>
                <a:ea typeface="Arial" pitchFamily="34" charset="-122"/>
                <a:cs typeface="Arial" pitchFamily="34" charset="-120"/>
              </a:rPr>
              <a:t>FAISS</a:t>
            </a:r>
            <a:endParaRPr lang="en-US" sz="1600" dirty="0"/>
          </a:p>
          <a:p>
            <a:pPr algn="ctr" indent="0" marL="0">
              <a:lnSpc>
                <a:spcPct val="105000"/>
              </a:lnSpc>
              <a:buNone/>
            </a:pPr>
            <a:r>
              <a:rPr lang="en-US" sz="1200" dirty="0">
                <a:solidFill>
                  <a:srgbClr val="161616"/>
                </a:solidFill>
                <a:latin typeface="Arial" pitchFamily="34" charset="0"/>
                <a:ea typeface="Arial" pitchFamily="34" charset="-122"/>
                <a:cs typeface="Arial" pitchFamily="34" charset="-120"/>
              </a:rPr>
              <a:t>Tìm vector top-100</a:t>
            </a:r>
            <a:endParaRPr lang="en-US" sz="1600" dirty="0"/>
          </a:p>
        </p:txBody>
      </p:sp>
      <p:sp>
        <p:nvSpPr>
          <p:cNvPr id="26" name="Shape 23"/>
          <p:cNvSpPr/>
          <p:nvPr/>
        </p:nvSpPr>
        <p:spPr>
          <a:xfrm>
            <a:off x="5138928" y="3886200"/>
            <a:ext cx="1152144" cy="0"/>
          </a:xfrm>
          <a:prstGeom prst="line">
            <a:avLst/>
          </a:prstGeom>
          <a:noFill/>
          <a:ln w="19050">
            <a:solidFill>
              <a:srgbClr val="347A1C"/>
            </a:solidFill>
            <a:prstDash val="solid"/>
            <a:tailEnd type="triangle"/>
          </a:ln>
        </p:spPr>
      </p:sp>
      <p:sp>
        <p:nvSpPr>
          <p:cNvPr id="27" name="Shape 24"/>
          <p:cNvSpPr/>
          <p:nvPr/>
        </p:nvSpPr>
        <p:spPr>
          <a:xfrm>
            <a:off x="6291072" y="3520440"/>
            <a:ext cx="2322576" cy="731520"/>
          </a:xfrm>
          <a:prstGeom prst="rect">
            <a:avLst/>
          </a:prstGeom>
          <a:solidFill>
            <a:srgbClr val="347A1C"/>
          </a:solidFill>
          <a:ln w="15875">
            <a:solidFill>
              <a:srgbClr val="347A1C"/>
            </a:solidFill>
            <a:prstDash val="solid"/>
          </a:ln>
        </p:spPr>
      </p:sp>
      <p:sp>
        <p:nvSpPr>
          <p:cNvPr id="28" name="Text 25"/>
          <p:cNvSpPr txBox="1"/>
          <p:nvPr/>
        </p:nvSpPr>
        <p:spPr>
          <a:xfrm>
            <a:off x="6291072" y="3520440"/>
            <a:ext cx="2322576" cy="731520"/>
          </a:xfrm>
          <a:prstGeom prst="rect">
            <a:avLst/>
          </a:prstGeom>
          <a:noFill/>
          <a:ln/>
        </p:spPr>
        <p:txBody>
          <a:bodyPr wrap="square" lIns="0" tIns="0" rIns="0" bIns="0" rtlCol="0" anchor="ctr"/>
          <a:lstStyle/>
          <a:p>
            <a:pPr algn="ctr" indent="0" marL="0">
              <a:lnSpc>
                <a:spcPct val="105000"/>
              </a:lnSpc>
              <a:buNone/>
            </a:pPr>
            <a:r>
              <a:rPr lang="en-US" sz="1600" b="1" dirty="0">
                <a:solidFill>
                  <a:srgbClr val="FFFFFF"/>
                </a:solidFill>
                <a:latin typeface="Arial" pitchFamily="34" charset="0"/>
                <a:ea typeface="Arial" pitchFamily="34" charset="-122"/>
                <a:cs typeface="Arial" pitchFamily="34" charset="-120"/>
              </a:rPr>
              <a:t>Fusion</a:t>
            </a:r>
            <a:endParaRPr lang="en-US" sz="1600" dirty="0"/>
          </a:p>
          <a:p>
            <a:pPr algn="ctr" indent="0" marL="0">
              <a:lnSpc>
                <a:spcPct val="105000"/>
              </a:lnSpc>
              <a:buNone/>
            </a:pPr>
            <a:r>
              <a:rPr lang="en-US" sz="1200" dirty="0">
                <a:solidFill>
                  <a:srgbClr val="FFFFFF"/>
                </a:solidFill>
                <a:latin typeface="Arial" pitchFamily="34" charset="0"/>
                <a:ea typeface="Arial" pitchFamily="34" charset="-122"/>
                <a:cs typeface="Arial" pitchFamily="34" charset="-120"/>
              </a:rPr>
              <a:t>BM25 + Dense</a:t>
            </a:r>
            <a:endParaRPr lang="en-US" sz="1600" dirty="0"/>
          </a:p>
          <a:p>
            <a:pPr algn="ctr" indent="0" marL="0">
              <a:lnSpc>
                <a:spcPct val="105000"/>
              </a:lnSpc>
              <a:buNone/>
            </a:pPr>
            <a:r>
              <a:rPr lang="en-US" sz="1200" dirty="0">
                <a:solidFill>
                  <a:srgbClr val="FFFFFF"/>
                </a:solidFill>
                <a:latin typeface="Arial" pitchFamily="34" charset="0"/>
                <a:ea typeface="Arial" pitchFamily="34" charset="-122"/>
                <a:cs typeface="Arial" pitchFamily="34" charset="-120"/>
              </a:rPr>
              <a:t>Trả Hybrid</a:t>
            </a:r>
            <a:endParaRPr lang="en-US" sz="1600" dirty="0"/>
          </a:p>
        </p:txBody>
      </p:sp>
      <p:sp>
        <p:nvSpPr>
          <p:cNvPr id="25" name="Slide Number Placeholder 0"/>
          <p:cNvSpPr>
            <a:spLocks noGrp="1"/>
          </p:cNvSpPr>
          <p:nvPr>
            <p:ph type="sldNum" sz="quarter" idx="4294967295"/>
          </p:nvPr>
        </p:nvSpPr>
        <p:spPr>
          <a:xfrm>
            <a:off x="8183880" y="46634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0000"/>
                </a:solidFill>
                <a:latin typeface="Lora"/>
                <a:ea typeface="Lora"/>
                <a:cs typeface="Lora"/>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12064" y="128016"/>
            <a:ext cx="8119872" cy="548640"/>
          </a:xfrm>
          <a:prstGeom prst="rect">
            <a:avLst/>
          </a:prstGeom>
          <a:noFill/>
          <a:ln/>
        </p:spPr>
        <p:txBody>
          <a:bodyPr wrap="square" lIns="0" tIns="0" rIns="0" bIns="0" rtlCol="0" anchor="b"/>
          <a:lstStyle/>
          <a:p>
            <a:pPr algn="l" indent="0" marL="0">
              <a:buNone/>
            </a:pPr>
            <a:r>
              <a:rPr lang="en-US" sz="2600" b="1" dirty="0">
                <a:solidFill>
                  <a:srgbClr val="004AAD"/>
                </a:solidFill>
                <a:latin typeface="Noto Sans" pitchFamily="34" charset="0"/>
                <a:ea typeface="Noto Sans" pitchFamily="34" charset="-122"/>
                <a:cs typeface="Noto Sans" pitchFamily="34" charset="-120"/>
              </a:rPr>
              <a:t>Gate học gì?</a:t>
            </a:r>
            <a:endParaRPr lang="en-US" sz="2600" dirty="0"/>
          </a:p>
        </p:txBody>
      </p:sp>
      <p:sp>
        <p:nvSpPr>
          <p:cNvPr id="4" name="Text 1"/>
          <p:cNvSpPr txBox="1"/>
          <p:nvPr/>
        </p:nvSpPr>
        <p:spPr>
          <a:xfrm>
            <a:off x="512064" y="932688"/>
            <a:ext cx="8119872" cy="411480"/>
          </a:xfrm>
          <a:prstGeom prst="rect">
            <a:avLst/>
          </a:prstGeom>
          <a:noFill/>
          <a:ln/>
        </p:spPr>
        <p:txBody>
          <a:bodyPr wrap="square" lIns="0" tIns="0" rIns="0" bIns="0" rtlCol="0" anchor="t"/>
          <a:lstStyle/>
          <a:p>
            <a:pPr indent="0" marL="0">
              <a:lnSpc>
                <a:spcPct val="105000"/>
              </a:lnSpc>
              <a:buNone/>
            </a:pPr>
            <a:r>
              <a:rPr lang="en-US" sz="2100" dirty="0">
                <a:solidFill>
                  <a:srgbClr val="000000"/>
                </a:solidFill>
                <a:latin typeface="Noto Sans" pitchFamily="34" charset="0"/>
                <a:ea typeface="Noto Sans" pitchFamily="34" charset="-122"/>
                <a:cs typeface="Noto Sans" pitchFamily="34" charset="-120"/>
              </a:rPr>
              <a:t>Gate dự đoán: </a:t>
            </a:r>
            <a:pPr indent="0" marL="0">
              <a:lnSpc>
                <a:spcPct val="105000"/>
              </a:lnSpc>
              <a:buNone/>
            </a:pPr>
            <a:r>
              <a:rPr lang="en-US" sz="2100" b="1" dirty="0">
                <a:solidFill>
                  <a:srgbClr val="004AAD"/>
                </a:solidFill>
                <a:latin typeface="Noto Sans" pitchFamily="34" charset="0"/>
                <a:ea typeface="Noto Sans" pitchFamily="34" charset="-122"/>
                <a:cs typeface="Noto Sans" pitchFamily="34" charset="-120"/>
              </a:rPr>
              <a:t>BM25 có thất bại</a:t>
            </a:r>
            <a:pPr indent="0" marL="0">
              <a:lnSpc>
                <a:spcPct val="105000"/>
              </a:lnSpc>
              <a:buNone/>
            </a:pPr>
            <a:r>
              <a:rPr lang="en-US" sz="2100" dirty="0">
                <a:solidFill>
                  <a:srgbClr val="000000"/>
                </a:solidFill>
                <a:latin typeface="Noto Sans" pitchFamily="34" charset="0"/>
                <a:ea typeface="Noto Sans" pitchFamily="34" charset="-122"/>
                <a:cs typeface="Noto Sans" pitchFamily="34" charset="-120"/>
              </a:rPr>
              <a:t> với truy vấn này không?</a:t>
            </a:r>
            <a:endParaRPr lang="en-US" sz="2100" dirty="0"/>
          </a:p>
        </p:txBody>
      </p:sp>
      <p:sp>
        <p:nvSpPr>
          <p:cNvPr id="5" name="Shape 2"/>
          <p:cNvSpPr/>
          <p:nvPr/>
        </p:nvSpPr>
        <p:spPr>
          <a:xfrm>
            <a:off x="512064" y="1463040"/>
            <a:ext cx="8119872" cy="475488"/>
          </a:xfrm>
          <a:prstGeom prst="rect">
            <a:avLst/>
          </a:prstGeom>
          <a:solidFill>
            <a:srgbClr val="F0F5FC"/>
          </a:solidFill>
          <a:ln/>
        </p:spPr>
      </p:sp>
      <p:sp>
        <p:nvSpPr>
          <p:cNvPr id="6" name="Text 3"/>
          <p:cNvSpPr txBox="1"/>
          <p:nvPr/>
        </p:nvSpPr>
        <p:spPr>
          <a:xfrm>
            <a:off x="512064" y="1463040"/>
            <a:ext cx="8119872" cy="475488"/>
          </a:xfrm>
          <a:prstGeom prst="rect">
            <a:avLst/>
          </a:prstGeom>
          <a:noFill/>
          <a:ln/>
        </p:spPr>
        <p:txBody>
          <a:bodyPr wrap="square" lIns="0" tIns="0" rIns="0" bIns="0" rtlCol="0" anchor="ctr"/>
          <a:lstStyle/>
          <a:p>
            <a:pPr algn="ctr" indent="0" marL="0">
              <a:lnSpc>
                <a:spcPct val="105000"/>
              </a:lnSpc>
              <a:buNone/>
            </a:pPr>
            <a:r>
              <a:rPr lang="en-US" sz="1500" dirty="0">
                <a:solidFill>
                  <a:srgbClr val="161616"/>
                </a:solidFill>
                <a:latin typeface="Noto Sans" pitchFamily="34" charset="0"/>
                <a:ea typeface="Noto Sans" pitchFamily="34" charset="-122"/>
                <a:cs typeface="Noto Sans" pitchFamily="34" charset="-120"/>
              </a:rPr>
              <a:t>Nhãn = 1 nếu top-10 của BM25 không có câu hỏi đúng (nDCG@10 của BM25 = 0)</a:t>
            </a:r>
            <a:endParaRPr lang="en-US" sz="1500" dirty="0"/>
          </a:p>
        </p:txBody>
      </p:sp>
      <p:sp>
        <p:nvSpPr>
          <p:cNvPr id="7" name="Shape 4"/>
          <p:cNvSpPr/>
          <p:nvPr/>
        </p:nvSpPr>
        <p:spPr>
          <a:xfrm>
            <a:off x="512064" y="2121408"/>
            <a:ext cx="2633472" cy="1901952"/>
          </a:xfrm>
          <a:prstGeom prst="rect">
            <a:avLst/>
          </a:prstGeom>
          <a:solidFill>
            <a:srgbClr val="FFFFFF"/>
          </a:solidFill>
          <a:ln w="12700">
            <a:solidFill>
              <a:srgbClr val="D9D9D9"/>
            </a:solidFill>
            <a:prstDash val="solid"/>
          </a:ln>
        </p:spPr>
      </p:sp>
      <p:sp>
        <p:nvSpPr>
          <p:cNvPr id="8" name="Text 5"/>
          <p:cNvSpPr txBox="1"/>
          <p:nvPr/>
        </p:nvSpPr>
        <p:spPr>
          <a:xfrm>
            <a:off x="676656" y="2240280"/>
            <a:ext cx="2331720" cy="347472"/>
          </a:xfrm>
          <a:prstGeom prst="rect">
            <a:avLst/>
          </a:prstGeom>
          <a:noFill/>
          <a:ln/>
        </p:spPr>
        <p:txBody>
          <a:bodyPr wrap="square" lIns="0" tIns="0" rIns="0" bIns="0" rtlCol="0" anchor="t"/>
          <a:lstStyle/>
          <a:p>
            <a:pPr indent="0" marL="0">
              <a:lnSpc>
                <a:spcPct val="105000"/>
              </a:lnSpc>
              <a:buNone/>
            </a:pPr>
            <a:r>
              <a:rPr lang="en-US" sz="1700" b="1" dirty="0">
                <a:solidFill>
                  <a:srgbClr val="004AAD"/>
                </a:solidFill>
                <a:latin typeface="Noto Sans" pitchFamily="34" charset="0"/>
                <a:ea typeface="Noto Sans" pitchFamily="34" charset="-122"/>
                <a:cs typeface="Noto Sans" pitchFamily="34" charset="-120"/>
              </a:rPr>
              <a:t>Vì sao nhãn này?</a:t>
            </a:r>
            <a:endParaRPr lang="en-US" sz="1700" dirty="0"/>
          </a:p>
        </p:txBody>
      </p:sp>
      <p:sp>
        <p:nvSpPr>
          <p:cNvPr id="9" name="Text 6"/>
          <p:cNvSpPr txBox="1"/>
          <p:nvPr/>
        </p:nvSpPr>
        <p:spPr>
          <a:xfrm>
            <a:off x="676656" y="2651760"/>
            <a:ext cx="2331720" cy="1298448"/>
          </a:xfrm>
          <a:prstGeom prst="rect">
            <a:avLst/>
          </a:prstGeom>
          <a:noFill/>
          <a:ln/>
        </p:spPr>
        <p:txBody>
          <a:bodyPr wrap="square" lIns="0" tIns="0" rIns="0" bIns="0" rtlCol="0" anchor="t"/>
          <a:lstStyle/>
          <a:p>
            <a:pPr indent="0" marL="0">
              <a:lnSpc>
                <a:spcPct val="105000"/>
              </a:lnSpc>
              <a:buNone/>
            </a:pPr>
            <a:r>
              <a:rPr lang="en-US" sz="1400" dirty="0">
                <a:solidFill>
                  <a:srgbClr val="000000"/>
                </a:solidFill>
                <a:latin typeface="Noto Sans" pitchFamily="34" charset="0"/>
                <a:ea typeface="Noto Sans" pitchFamily="34" charset="-122"/>
                <a:cs typeface="Noto Sans" pitchFamily="34" charset="-120"/>
              </a:rPr>
              <a:t>Gate chỉ thấy câu hỏi và danh sách BM25, nên học được chất lượng của chính BM25. BM25 thất bại thì chỉ Dense cứu được.</a:t>
            </a:r>
            <a:endParaRPr lang="en-US" sz="1400" dirty="0"/>
          </a:p>
        </p:txBody>
      </p:sp>
      <p:sp>
        <p:nvSpPr>
          <p:cNvPr id="10" name="Shape 7"/>
          <p:cNvSpPr/>
          <p:nvPr/>
        </p:nvSpPr>
        <p:spPr>
          <a:xfrm>
            <a:off x="3255264" y="2121408"/>
            <a:ext cx="2633472" cy="1901952"/>
          </a:xfrm>
          <a:prstGeom prst="rect">
            <a:avLst/>
          </a:prstGeom>
          <a:solidFill>
            <a:srgbClr val="FFFFFF"/>
          </a:solidFill>
          <a:ln w="12700">
            <a:solidFill>
              <a:srgbClr val="D9D9D9"/>
            </a:solidFill>
            <a:prstDash val="solid"/>
          </a:ln>
        </p:spPr>
      </p:sp>
      <p:sp>
        <p:nvSpPr>
          <p:cNvPr id="11" name="Text 8"/>
          <p:cNvSpPr txBox="1"/>
          <p:nvPr/>
        </p:nvSpPr>
        <p:spPr>
          <a:xfrm>
            <a:off x="3419856" y="2240280"/>
            <a:ext cx="2331720" cy="347472"/>
          </a:xfrm>
          <a:prstGeom prst="rect">
            <a:avLst/>
          </a:prstGeom>
          <a:noFill/>
          <a:ln/>
        </p:spPr>
        <p:txBody>
          <a:bodyPr wrap="square" lIns="0" tIns="0" rIns="0" bIns="0" rtlCol="0" anchor="t"/>
          <a:lstStyle/>
          <a:p>
            <a:pPr indent="0" marL="0">
              <a:lnSpc>
                <a:spcPct val="105000"/>
              </a:lnSpc>
              <a:buNone/>
            </a:pPr>
            <a:r>
              <a:rPr lang="en-US" sz="1700" b="1" dirty="0">
                <a:solidFill>
                  <a:srgbClr val="004AAD"/>
                </a:solidFill>
                <a:latin typeface="Noto Sans" pitchFamily="34" charset="0"/>
                <a:ea typeface="Noto Sans" pitchFamily="34" charset="-122"/>
                <a:cs typeface="Noto Sans" pitchFamily="34" charset="-120"/>
              </a:rPr>
              <a:t>Đầu vào</a:t>
            </a:r>
            <a:endParaRPr lang="en-US" sz="1700" dirty="0"/>
          </a:p>
        </p:txBody>
      </p:sp>
      <p:sp>
        <p:nvSpPr>
          <p:cNvPr id="12" name="Text 9"/>
          <p:cNvSpPr txBox="1"/>
          <p:nvPr/>
        </p:nvSpPr>
        <p:spPr>
          <a:xfrm>
            <a:off x="3419856" y="2651760"/>
            <a:ext cx="2331720" cy="1298448"/>
          </a:xfrm>
          <a:prstGeom prst="rect">
            <a:avLst/>
          </a:prstGeom>
          <a:noFill/>
          <a:ln/>
        </p:spPr>
        <p:txBody>
          <a:bodyPr wrap="square" lIns="0" tIns="0" rIns="0" bIns="0" rtlCol="0" anchor="t"/>
          <a:lstStyle/>
          <a:p>
            <a:pPr indent="0" marL="0">
              <a:lnSpc>
                <a:spcPct val="105000"/>
              </a:lnSpc>
              <a:buNone/>
            </a:pPr>
            <a:r>
              <a:rPr lang="en-US" sz="1400" dirty="0">
                <a:solidFill>
                  <a:srgbClr val="000000"/>
                </a:solidFill>
                <a:latin typeface="Noto Sans" pitchFamily="34" charset="0"/>
                <a:ea typeface="Noto Sans" pitchFamily="34" charset="-122"/>
                <a:cs typeface="Noto Sans" pitchFamily="34" charset="-120"/>
              </a:rPr>
              <a:t>21 đặc trưng từ câu hỏi, từ vựng và điểm BM25, cộng 7 đặc trưng dự báo chất lượng truy vấn (QPP).</a:t>
            </a:r>
            <a:endParaRPr lang="en-US" sz="1400" dirty="0"/>
          </a:p>
        </p:txBody>
      </p:sp>
      <p:sp>
        <p:nvSpPr>
          <p:cNvPr id="13" name="Shape 10"/>
          <p:cNvSpPr/>
          <p:nvPr/>
        </p:nvSpPr>
        <p:spPr>
          <a:xfrm>
            <a:off x="5998464" y="2121408"/>
            <a:ext cx="2633472" cy="1901952"/>
          </a:xfrm>
          <a:prstGeom prst="rect">
            <a:avLst/>
          </a:prstGeom>
          <a:solidFill>
            <a:srgbClr val="FFFFFF"/>
          </a:solidFill>
          <a:ln w="12700">
            <a:solidFill>
              <a:srgbClr val="D9D9D9"/>
            </a:solidFill>
            <a:prstDash val="solid"/>
          </a:ln>
        </p:spPr>
      </p:sp>
      <p:sp>
        <p:nvSpPr>
          <p:cNvPr id="14" name="Text 11"/>
          <p:cNvSpPr txBox="1"/>
          <p:nvPr/>
        </p:nvSpPr>
        <p:spPr>
          <a:xfrm>
            <a:off x="6163056" y="2240280"/>
            <a:ext cx="2331720" cy="347472"/>
          </a:xfrm>
          <a:prstGeom prst="rect">
            <a:avLst/>
          </a:prstGeom>
          <a:noFill/>
          <a:ln/>
        </p:spPr>
        <p:txBody>
          <a:bodyPr wrap="square" lIns="0" tIns="0" rIns="0" bIns="0" rtlCol="0" anchor="t"/>
          <a:lstStyle/>
          <a:p>
            <a:pPr indent="0" marL="0">
              <a:lnSpc>
                <a:spcPct val="105000"/>
              </a:lnSpc>
              <a:buNone/>
            </a:pPr>
            <a:r>
              <a:rPr lang="en-US" sz="1700" b="1" dirty="0">
                <a:solidFill>
                  <a:srgbClr val="004AAD"/>
                </a:solidFill>
                <a:latin typeface="Noto Sans" pitchFamily="34" charset="0"/>
                <a:ea typeface="Noto Sans" pitchFamily="34" charset="-122"/>
                <a:cs typeface="Noto Sans" pitchFamily="34" charset="-120"/>
              </a:rPr>
              <a:t>Mô hình</a:t>
            </a:r>
            <a:endParaRPr lang="en-US" sz="1700" dirty="0"/>
          </a:p>
        </p:txBody>
      </p:sp>
      <p:sp>
        <p:nvSpPr>
          <p:cNvPr id="15" name="Text 12"/>
          <p:cNvSpPr txBox="1"/>
          <p:nvPr/>
        </p:nvSpPr>
        <p:spPr>
          <a:xfrm>
            <a:off x="6163056" y="2651760"/>
            <a:ext cx="2331720" cy="1298448"/>
          </a:xfrm>
          <a:prstGeom prst="rect">
            <a:avLst/>
          </a:prstGeom>
          <a:noFill/>
          <a:ln/>
        </p:spPr>
        <p:txBody>
          <a:bodyPr wrap="square" lIns="0" tIns="0" rIns="0" bIns="0" rtlCol="0" anchor="t"/>
          <a:lstStyle/>
          <a:p>
            <a:pPr indent="0" marL="0">
              <a:lnSpc>
                <a:spcPct val="105000"/>
              </a:lnSpc>
              <a:buNone/>
            </a:pPr>
            <a:r>
              <a:rPr lang="en-US" sz="1400" dirty="0">
                <a:solidFill>
                  <a:srgbClr val="000000"/>
                </a:solidFill>
                <a:latin typeface="Noto Sans" pitchFamily="34" charset="0"/>
                <a:ea typeface="Noto Sans" pitchFamily="34" charset="-122"/>
                <a:cs typeface="Noto Sans" pitchFamily="34" charset="-120"/>
              </a:rPr>
              <a:t>Hồi quy logistic: một phép nhân vector, chi phí rất nhỏ so với mã hóa truy vấn.</a:t>
            </a:r>
            <a:endParaRPr lang="en-US" sz="1400" dirty="0"/>
          </a:p>
        </p:txBody>
      </p:sp>
      <p:sp>
        <p:nvSpPr>
          <p:cNvPr id="25" name="Slide Number Placeholder 0"/>
          <p:cNvSpPr>
            <a:spLocks noGrp="1"/>
          </p:cNvSpPr>
          <p:nvPr>
            <p:ph type="sldNum" sz="quarter" idx="4294967295"/>
          </p:nvPr>
        </p:nvSpPr>
        <p:spPr>
          <a:xfrm>
            <a:off x="8183880" y="46634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0000"/>
                </a:solidFill>
                <a:latin typeface="Lora"/>
                <a:ea typeface="Lora"/>
                <a:cs typeface="Lora"/>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12064" y="128016"/>
            <a:ext cx="8119872" cy="548640"/>
          </a:xfrm>
          <a:prstGeom prst="rect">
            <a:avLst/>
          </a:prstGeom>
          <a:noFill/>
          <a:ln/>
        </p:spPr>
        <p:txBody>
          <a:bodyPr wrap="square" lIns="0" tIns="0" rIns="0" bIns="0" rtlCol="0" anchor="b"/>
          <a:lstStyle/>
          <a:p>
            <a:pPr algn="l" indent="0" marL="0">
              <a:buNone/>
            </a:pPr>
            <a:r>
              <a:rPr lang="en-US" sz="2600" b="1" dirty="0">
                <a:solidFill>
                  <a:srgbClr val="004AAD"/>
                </a:solidFill>
                <a:latin typeface="Noto Sans" pitchFamily="34" charset="0"/>
                <a:ea typeface="Noto Sans" pitchFamily="34" charset="-122"/>
                <a:cs typeface="Noto Sans" pitchFamily="34" charset="-120"/>
              </a:rPr>
              <a:t>Ngân sách mã hóa và học nhiều chủ đề</a:t>
            </a:r>
            <a:endParaRPr lang="en-US" sz="2600" dirty="0"/>
          </a:p>
        </p:txBody>
      </p:sp>
      <p:sp>
        <p:nvSpPr>
          <p:cNvPr id="4" name="Text 1"/>
          <p:cNvSpPr txBox="1"/>
          <p:nvPr/>
        </p:nvSpPr>
        <p:spPr>
          <a:xfrm>
            <a:off x="512064" y="960120"/>
            <a:ext cx="3931920" cy="365760"/>
          </a:xfrm>
          <a:prstGeom prst="rect">
            <a:avLst/>
          </a:prstGeom>
          <a:noFill/>
          <a:ln/>
        </p:spPr>
        <p:txBody>
          <a:bodyPr wrap="square" lIns="0" tIns="0" rIns="0" bIns="0" rtlCol="0" anchor="t"/>
          <a:lstStyle/>
          <a:p>
            <a:pPr indent="0" marL="0">
              <a:lnSpc>
                <a:spcPct val="105000"/>
              </a:lnSpc>
              <a:buNone/>
            </a:pPr>
            <a:r>
              <a:rPr lang="en-US" sz="1700" b="1" dirty="0">
                <a:solidFill>
                  <a:srgbClr val="004AAD"/>
                </a:solidFill>
                <a:latin typeface="Noto Sans" pitchFamily="34" charset="0"/>
                <a:ea typeface="Noto Sans" pitchFamily="34" charset="-122"/>
                <a:cs typeface="Noto Sans" pitchFamily="34" charset="-120"/>
              </a:rPr>
              <a:t>Ngân sách là ngưỡng điều chỉnh</a:t>
            </a:r>
            <a:endParaRPr lang="en-US" sz="1700" dirty="0"/>
          </a:p>
        </p:txBody>
      </p:sp>
      <p:sp>
        <p:nvSpPr>
          <p:cNvPr id="5" name="Text 2"/>
          <p:cNvSpPr txBox="1"/>
          <p:nvPr/>
        </p:nvSpPr>
        <p:spPr>
          <a:xfrm>
            <a:off x="512064" y="1371600"/>
            <a:ext cx="3840480" cy="1097280"/>
          </a:xfrm>
          <a:prstGeom prst="rect">
            <a:avLst/>
          </a:prstGeom>
          <a:noFill/>
          <a:ln/>
        </p:spPr>
        <p:txBody>
          <a:bodyPr wrap="square" lIns="0" tIns="0" rIns="0" bIns="0" rtlCol="0" anchor="t"/>
          <a:lstStyle/>
          <a:p>
            <a:pPr indent="0" marL="0">
              <a:lnSpc>
                <a:spcPct val="105000"/>
              </a:lnSpc>
              <a:buNone/>
            </a:pPr>
            <a:r>
              <a:rPr lang="en-US" sz="1500" dirty="0">
                <a:solidFill>
                  <a:srgbClr val="000000"/>
                </a:solidFill>
                <a:latin typeface="Noto Sans" pitchFamily="34" charset="0"/>
                <a:ea typeface="Noto Sans" pitchFamily="34" charset="-122"/>
                <a:cs typeface="Noto Sans" pitchFamily="34" charset="-120"/>
              </a:rPr>
              <a:t>Chọn trước tỷ lệ truy vấn được mã hóa. Ngưỡng τ = phân vị điểm gate trên các truy vấn đã có, không cần nhãn.</a:t>
            </a:r>
            <a:endParaRPr lang="en-US" sz="1500" dirty="0"/>
          </a:p>
        </p:txBody>
      </p:sp>
      <p:sp>
        <p:nvSpPr>
          <p:cNvPr id="6" name="Shape 3"/>
          <p:cNvSpPr/>
          <p:nvPr/>
        </p:nvSpPr>
        <p:spPr>
          <a:xfrm>
            <a:off x="4553712" y="960120"/>
            <a:ext cx="0" cy="1554480"/>
          </a:xfrm>
          <a:prstGeom prst="line">
            <a:avLst/>
          </a:prstGeom>
          <a:noFill/>
          <a:ln w="19050">
            <a:solidFill>
              <a:srgbClr val="D9D9D9"/>
            </a:solidFill>
            <a:prstDash val="solid"/>
          </a:ln>
        </p:spPr>
      </p:sp>
      <p:sp>
        <p:nvSpPr>
          <p:cNvPr id="7" name="Text 4"/>
          <p:cNvSpPr txBox="1"/>
          <p:nvPr/>
        </p:nvSpPr>
        <p:spPr>
          <a:xfrm>
            <a:off x="4800600" y="960120"/>
            <a:ext cx="3931920" cy="365760"/>
          </a:xfrm>
          <a:prstGeom prst="rect">
            <a:avLst/>
          </a:prstGeom>
          <a:noFill/>
          <a:ln/>
        </p:spPr>
        <p:txBody>
          <a:bodyPr wrap="square" lIns="0" tIns="0" rIns="0" bIns="0" rtlCol="0" anchor="t"/>
          <a:lstStyle/>
          <a:p>
            <a:pPr indent="0" marL="0">
              <a:lnSpc>
                <a:spcPct val="105000"/>
              </a:lnSpc>
              <a:buNone/>
            </a:pPr>
            <a:r>
              <a:rPr lang="en-US" sz="1700" b="1" dirty="0">
                <a:solidFill>
                  <a:srgbClr val="004AAD"/>
                </a:solidFill>
                <a:latin typeface="Noto Sans" pitchFamily="34" charset="0"/>
                <a:ea typeface="Noto Sans" pitchFamily="34" charset="-122"/>
                <a:cs typeface="Noto Sans" pitchFamily="34" charset="-120"/>
              </a:rPr>
              <a:t>Học một lần, dùng cho chủ đề mới</a:t>
            </a:r>
            <a:endParaRPr lang="en-US" sz="1700" dirty="0"/>
          </a:p>
        </p:txBody>
      </p:sp>
      <p:sp>
        <p:nvSpPr>
          <p:cNvPr id="8" name="Text 5"/>
          <p:cNvSpPr txBox="1"/>
          <p:nvPr/>
        </p:nvSpPr>
        <p:spPr>
          <a:xfrm>
            <a:off x="4800600" y="1371600"/>
            <a:ext cx="3840480" cy="1097280"/>
          </a:xfrm>
          <a:prstGeom prst="rect">
            <a:avLst/>
          </a:prstGeom>
          <a:noFill/>
          <a:ln/>
        </p:spPr>
        <p:txBody>
          <a:bodyPr wrap="square" lIns="0" tIns="0" rIns="0" bIns="0" rtlCol="0" anchor="t"/>
          <a:lstStyle/>
          <a:p>
            <a:pPr indent="0" marL="0">
              <a:lnSpc>
                <a:spcPct val="105000"/>
              </a:lnSpc>
              <a:buNone/>
            </a:pPr>
            <a:r>
              <a:rPr lang="en-US" sz="1500" dirty="0">
                <a:solidFill>
                  <a:srgbClr val="000000"/>
                </a:solidFill>
                <a:latin typeface="Noto Sans" pitchFamily="34" charset="0"/>
                <a:ea typeface="Noto Sans" pitchFamily="34" charset="-122"/>
                <a:cs typeface="Noto Sans" pitchFamily="34" charset="-120"/>
              </a:rPr>
              <a:t>Gate học trên nhiều chủ đề. Đặc trưng chuẩn hóa theo thống kê của chính chủ đề đó, nên áp dụng cho chủ đề mới không cần gán nhãn.</a:t>
            </a:r>
            <a:endParaRPr lang="en-US" sz="1500" dirty="0"/>
          </a:p>
        </p:txBody>
      </p:sp>
      <p:sp>
        <p:nvSpPr>
          <p:cNvPr id="9" name="Text 6"/>
          <p:cNvSpPr txBox="1"/>
          <p:nvPr/>
        </p:nvSpPr>
        <p:spPr>
          <a:xfrm>
            <a:off x="512064" y="2788920"/>
            <a:ext cx="8119872" cy="274320"/>
          </a:xfrm>
          <a:prstGeom prst="rect">
            <a:avLst/>
          </a:prstGeom>
          <a:noFill/>
          <a:ln/>
        </p:spPr>
        <p:txBody>
          <a:bodyPr wrap="square" lIns="0" tIns="0" rIns="0" bIns="0" rtlCol="0" anchor="t"/>
          <a:lstStyle/>
          <a:p>
            <a:pPr algn="ctr" indent="0" marL="0">
              <a:lnSpc>
                <a:spcPct val="105000"/>
              </a:lnSpc>
              <a:buNone/>
            </a:pPr>
            <a:r>
              <a:rPr lang="en-US" sz="1300" dirty="0">
                <a:solidFill>
                  <a:srgbClr val="595959"/>
                </a:solidFill>
                <a:latin typeface="Noto Sans" pitchFamily="34" charset="0"/>
                <a:ea typeface="Noto Sans" pitchFamily="34" charset="-122"/>
                <a:cs typeface="Noto Sans" pitchFamily="34" charset="-120"/>
              </a:rPr>
              <a:t>Tỷ lệ truy vấn được mã hóa</a:t>
            </a:r>
            <a:endParaRPr lang="en-US" sz="1300" dirty="0"/>
          </a:p>
        </p:txBody>
      </p:sp>
      <p:sp>
        <p:nvSpPr>
          <p:cNvPr id="10" name="Shape 7"/>
          <p:cNvSpPr/>
          <p:nvPr/>
        </p:nvSpPr>
        <p:spPr>
          <a:xfrm>
            <a:off x="914400" y="3246120"/>
            <a:ext cx="7315200" cy="91440"/>
          </a:xfrm>
          <a:prstGeom prst="rect">
            <a:avLst/>
          </a:prstGeom>
          <a:solidFill>
            <a:srgbClr val="D9D9D9"/>
          </a:solidFill>
          <a:ln/>
        </p:spPr>
      </p:sp>
      <p:sp>
        <p:nvSpPr>
          <p:cNvPr id="11" name="Shape 8"/>
          <p:cNvSpPr/>
          <p:nvPr/>
        </p:nvSpPr>
        <p:spPr>
          <a:xfrm>
            <a:off x="914400" y="3246120"/>
            <a:ext cx="3657600" cy="91440"/>
          </a:xfrm>
          <a:prstGeom prst="rect">
            <a:avLst/>
          </a:prstGeom>
          <a:solidFill>
            <a:srgbClr val="004AAD"/>
          </a:solidFill>
          <a:ln/>
        </p:spPr>
      </p:sp>
      <p:sp>
        <p:nvSpPr>
          <p:cNvPr id="12" name="Shape 9"/>
          <p:cNvSpPr/>
          <p:nvPr/>
        </p:nvSpPr>
        <p:spPr>
          <a:xfrm>
            <a:off x="4425696" y="3145536"/>
            <a:ext cx="292608" cy="292608"/>
          </a:xfrm>
          <a:prstGeom prst="ellipse">
            <a:avLst/>
          </a:prstGeom>
          <a:solidFill>
            <a:srgbClr val="FFFFFF"/>
          </a:solidFill>
          <a:ln w="38100">
            <a:solidFill>
              <a:srgbClr val="004AAD"/>
            </a:solidFill>
            <a:prstDash val="solid"/>
          </a:ln>
        </p:spPr>
      </p:sp>
      <p:sp>
        <p:nvSpPr>
          <p:cNvPr id="13" name="Text 10"/>
          <p:cNvSpPr txBox="1"/>
          <p:nvPr/>
        </p:nvSpPr>
        <p:spPr>
          <a:xfrm>
            <a:off x="-182880" y="3493008"/>
            <a:ext cx="2194560" cy="292608"/>
          </a:xfrm>
          <a:prstGeom prst="rect">
            <a:avLst/>
          </a:prstGeom>
          <a:noFill/>
          <a:ln/>
        </p:spPr>
        <p:txBody>
          <a:bodyPr wrap="square" lIns="0" tIns="0" rIns="0" bIns="0" rtlCol="0" anchor="t"/>
          <a:lstStyle/>
          <a:p>
            <a:pPr algn="ctr" indent="0" marL="0">
              <a:lnSpc>
                <a:spcPct val="105000"/>
              </a:lnSpc>
              <a:buNone/>
            </a:pPr>
            <a:r>
              <a:rPr lang="en-US" sz="1600" b="1" dirty="0">
                <a:solidFill>
                  <a:srgbClr val="004AAD"/>
                </a:solidFill>
                <a:latin typeface="Noto Sans" pitchFamily="34" charset="0"/>
                <a:ea typeface="Noto Sans" pitchFamily="34" charset="-122"/>
                <a:cs typeface="Noto Sans" pitchFamily="34" charset="-120"/>
              </a:rPr>
              <a:t>0%</a:t>
            </a:r>
            <a:endParaRPr lang="en-US" sz="1600" dirty="0"/>
          </a:p>
        </p:txBody>
      </p:sp>
      <p:sp>
        <p:nvSpPr>
          <p:cNvPr id="14" name="Text 11"/>
          <p:cNvSpPr txBox="1"/>
          <p:nvPr/>
        </p:nvSpPr>
        <p:spPr>
          <a:xfrm>
            <a:off x="-182880" y="3822192"/>
            <a:ext cx="2194560" cy="548640"/>
          </a:xfrm>
          <a:prstGeom prst="rect">
            <a:avLst/>
          </a:prstGeom>
          <a:noFill/>
          <a:ln/>
        </p:spPr>
        <p:txBody>
          <a:bodyPr wrap="square" lIns="0" tIns="0" rIns="0" bIns="0" rtlCol="0" anchor="t"/>
          <a:lstStyle/>
          <a:p>
            <a:pPr algn="ctr" indent="0" marL="0">
              <a:lnSpc>
                <a:spcPct val="105000"/>
              </a:lnSpc>
              <a:buNone/>
            </a:pPr>
            <a:r>
              <a:rPr lang="en-US" sz="1300" dirty="0">
                <a:solidFill>
                  <a:srgbClr val="161616"/>
                </a:solidFill>
                <a:latin typeface="Noto Sans" pitchFamily="34" charset="0"/>
                <a:ea typeface="Noto Sans" pitchFamily="34" charset="-122"/>
                <a:cs typeface="Noto Sans" pitchFamily="34" charset="-120"/>
              </a:rPr>
              <a:t>Chỉ nhánh rẻ</a:t>
            </a:r>
            <a:endParaRPr lang="en-US" sz="1300" dirty="0"/>
          </a:p>
          <a:p>
            <a:pPr algn="ctr" indent="0" marL="0">
              <a:lnSpc>
                <a:spcPct val="105000"/>
              </a:lnSpc>
              <a:buNone/>
            </a:pPr>
            <a:r>
              <a:rPr lang="en-US" sz="1300" dirty="0">
                <a:solidFill>
                  <a:srgbClr val="161616"/>
                </a:solidFill>
                <a:latin typeface="Noto Sans" pitchFamily="34" charset="0"/>
                <a:ea typeface="Noto Sans" pitchFamily="34" charset="-122"/>
                <a:cs typeface="Noto Sans" pitchFamily="34" charset="-120"/>
              </a:rPr>
              <a:t>nhanh nhất</a:t>
            </a:r>
            <a:endParaRPr lang="en-US" sz="1300" dirty="0"/>
          </a:p>
        </p:txBody>
      </p:sp>
      <p:sp>
        <p:nvSpPr>
          <p:cNvPr id="15" name="Text 12"/>
          <p:cNvSpPr txBox="1"/>
          <p:nvPr/>
        </p:nvSpPr>
        <p:spPr>
          <a:xfrm>
            <a:off x="3474720" y="3493008"/>
            <a:ext cx="2194560" cy="292608"/>
          </a:xfrm>
          <a:prstGeom prst="rect">
            <a:avLst/>
          </a:prstGeom>
          <a:noFill/>
          <a:ln/>
        </p:spPr>
        <p:txBody>
          <a:bodyPr wrap="square" lIns="0" tIns="0" rIns="0" bIns="0" rtlCol="0" anchor="t"/>
          <a:lstStyle/>
          <a:p>
            <a:pPr algn="ctr" indent="0" marL="0">
              <a:lnSpc>
                <a:spcPct val="105000"/>
              </a:lnSpc>
              <a:buNone/>
            </a:pPr>
            <a:r>
              <a:rPr lang="en-US" sz="1600" b="1" dirty="0">
                <a:solidFill>
                  <a:srgbClr val="004AAD"/>
                </a:solidFill>
                <a:latin typeface="Noto Sans" pitchFamily="34" charset="0"/>
                <a:ea typeface="Noto Sans" pitchFamily="34" charset="-122"/>
                <a:cs typeface="Noto Sans" pitchFamily="34" charset="-120"/>
              </a:rPr>
              <a:t>50%</a:t>
            </a:r>
            <a:endParaRPr lang="en-US" sz="1600" dirty="0"/>
          </a:p>
        </p:txBody>
      </p:sp>
      <p:sp>
        <p:nvSpPr>
          <p:cNvPr id="16" name="Text 13"/>
          <p:cNvSpPr txBox="1"/>
          <p:nvPr/>
        </p:nvSpPr>
        <p:spPr>
          <a:xfrm>
            <a:off x="3474720" y="3822192"/>
            <a:ext cx="2194560" cy="548640"/>
          </a:xfrm>
          <a:prstGeom prst="rect">
            <a:avLst/>
          </a:prstGeom>
          <a:noFill/>
          <a:ln/>
        </p:spPr>
        <p:txBody>
          <a:bodyPr wrap="square" lIns="0" tIns="0" rIns="0" bIns="0" rtlCol="0" anchor="t"/>
          <a:lstStyle/>
          <a:p>
            <a:pPr algn="ctr" indent="0" marL="0">
              <a:lnSpc>
                <a:spcPct val="105000"/>
              </a:lnSpc>
              <a:buNone/>
            </a:pPr>
            <a:r>
              <a:rPr lang="en-US" sz="1300" dirty="0">
                <a:solidFill>
                  <a:srgbClr val="161616"/>
                </a:solidFill>
                <a:latin typeface="Noto Sans" pitchFamily="34" charset="0"/>
                <a:ea typeface="Noto Sans" pitchFamily="34" charset="-122"/>
                <a:cs typeface="Noto Sans" pitchFamily="34" charset="-120"/>
              </a:rPr>
              <a:t>Mã hóa nửa số truy vấn</a:t>
            </a:r>
            <a:endParaRPr lang="en-US" sz="1300" dirty="0"/>
          </a:p>
          <a:p>
            <a:pPr algn="ctr" indent="0" marL="0">
              <a:lnSpc>
                <a:spcPct val="105000"/>
              </a:lnSpc>
              <a:buNone/>
            </a:pPr>
            <a:r>
              <a:rPr lang="en-US" sz="1300" dirty="0">
                <a:solidFill>
                  <a:srgbClr val="161616"/>
                </a:solidFill>
                <a:latin typeface="Noto Sans" pitchFamily="34" charset="0"/>
                <a:ea typeface="Noto Sans" pitchFamily="34" charset="-122"/>
                <a:cs typeface="Noto Sans" pitchFamily="34" charset="-120"/>
              </a:rPr>
              <a:t>có điểm gate cao nhất</a:t>
            </a:r>
            <a:endParaRPr lang="en-US" sz="1300" dirty="0"/>
          </a:p>
        </p:txBody>
      </p:sp>
      <p:sp>
        <p:nvSpPr>
          <p:cNvPr id="17" name="Text 14"/>
          <p:cNvSpPr txBox="1"/>
          <p:nvPr/>
        </p:nvSpPr>
        <p:spPr>
          <a:xfrm>
            <a:off x="7132320" y="3493008"/>
            <a:ext cx="2194560" cy="292608"/>
          </a:xfrm>
          <a:prstGeom prst="rect">
            <a:avLst/>
          </a:prstGeom>
          <a:noFill/>
          <a:ln/>
        </p:spPr>
        <p:txBody>
          <a:bodyPr wrap="square" lIns="0" tIns="0" rIns="0" bIns="0" rtlCol="0" anchor="t"/>
          <a:lstStyle/>
          <a:p>
            <a:pPr algn="ctr" indent="0" marL="0">
              <a:lnSpc>
                <a:spcPct val="105000"/>
              </a:lnSpc>
              <a:buNone/>
            </a:pPr>
            <a:r>
              <a:rPr lang="en-US" sz="1600" b="1" dirty="0">
                <a:solidFill>
                  <a:srgbClr val="004AAD"/>
                </a:solidFill>
                <a:latin typeface="Noto Sans" pitchFamily="34" charset="0"/>
                <a:ea typeface="Noto Sans" pitchFamily="34" charset="-122"/>
                <a:cs typeface="Noto Sans" pitchFamily="34" charset="-120"/>
              </a:rPr>
              <a:t>100%</a:t>
            </a:r>
            <a:endParaRPr lang="en-US" sz="1600" dirty="0"/>
          </a:p>
        </p:txBody>
      </p:sp>
      <p:sp>
        <p:nvSpPr>
          <p:cNvPr id="18" name="Text 15"/>
          <p:cNvSpPr txBox="1"/>
          <p:nvPr/>
        </p:nvSpPr>
        <p:spPr>
          <a:xfrm>
            <a:off x="7132320" y="3822192"/>
            <a:ext cx="2194560" cy="548640"/>
          </a:xfrm>
          <a:prstGeom prst="rect">
            <a:avLst/>
          </a:prstGeom>
          <a:noFill/>
          <a:ln/>
        </p:spPr>
        <p:txBody>
          <a:bodyPr wrap="square" lIns="0" tIns="0" rIns="0" bIns="0" rtlCol="0" anchor="t"/>
          <a:lstStyle/>
          <a:p>
            <a:pPr algn="ctr" indent="0" marL="0">
              <a:lnSpc>
                <a:spcPct val="105000"/>
              </a:lnSpc>
              <a:buNone/>
            </a:pPr>
            <a:r>
              <a:rPr lang="en-US" sz="1300" dirty="0">
                <a:solidFill>
                  <a:srgbClr val="161616"/>
                </a:solidFill>
                <a:latin typeface="Noto Sans" pitchFamily="34" charset="0"/>
                <a:ea typeface="Noto Sans" pitchFamily="34" charset="-122"/>
                <a:cs typeface="Noto Sans" pitchFamily="34" charset="-120"/>
              </a:rPr>
              <a:t>Luôn Hybrid</a:t>
            </a:r>
            <a:endParaRPr lang="en-US" sz="1300" dirty="0"/>
          </a:p>
          <a:p>
            <a:pPr algn="ctr" indent="0" marL="0">
              <a:lnSpc>
                <a:spcPct val="105000"/>
              </a:lnSpc>
              <a:buNone/>
            </a:pPr>
            <a:r>
              <a:rPr lang="en-US" sz="1300" dirty="0">
                <a:solidFill>
                  <a:srgbClr val="161616"/>
                </a:solidFill>
                <a:latin typeface="Noto Sans" pitchFamily="34" charset="0"/>
                <a:ea typeface="Noto Sans" pitchFamily="34" charset="-122"/>
                <a:cs typeface="Noto Sans" pitchFamily="34" charset="-120"/>
              </a:rPr>
              <a:t>chậm nhất</a:t>
            </a:r>
            <a:endParaRPr lang="en-US" sz="1300" dirty="0"/>
          </a:p>
        </p:txBody>
      </p:sp>
      <p:sp>
        <p:nvSpPr>
          <p:cNvPr id="25" name="Slide Number Placeholder 0"/>
          <p:cNvSpPr>
            <a:spLocks noGrp="1"/>
          </p:cNvSpPr>
          <p:nvPr>
            <p:ph type="sldNum" sz="quarter" idx="4294967295"/>
          </p:nvPr>
        </p:nvSpPr>
        <p:spPr>
          <a:xfrm>
            <a:off x="8183880" y="46634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0000"/>
                </a:solidFill>
                <a:latin typeface="Lora"/>
                <a:ea typeface="Lora"/>
                <a:cs typeface="Lora"/>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12064" y="128016"/>
            <a:ext cx="8119872" cy="548640"/>
          </a:xfrm>
          <a:prstGeom prst="rect">
            <a:avLst/>
          </a:prstGeom>
          <a:noFill/>
          <a:ln/>
        </p:spPr>
        <p:txBody>
          <a:bodyPr wrap="square" lIns="0" tIns="0" rIns="0" bIns="0" rtlCol="0" anchor="b"/>
          <a:lstStyle/>
          <a:p>
            <a:pPr algn="l" indent="0" marL="0">
              <a:buNone/>
            </a:pPr>
            <a:r>
              <a:rPr lang="en-US" sz="2600" b="1" dirty="0">
                <a:solidFill>
                  <a:srgbClr val="004AAD"/>
                </a:solidFill>
                <a:latin typeface="Noto Sans" pitchFamily="34" charset="0"/>
                <a:ea typeface="Noto Sans" pitchFamily="34" charset="-122"/>
                <a:cs typeface="Noto Sans" pitchFamily="34" charset="-120"/>
              </a:rPr>
              <a:t>Dữ liệu huấn luyện và đánh giá</a:t>
            </a:r>
            <a:endParaRPr lang="en-US" sz="2600" dirty="0"/>
          </a:p>
        </p:txBody>
      </p:sp>
      <p:sp>
        <p:nvSpPr>
          <p:cNvPr id="4" name="Text 1"/>
          <p:cNvSpPr txBox="1"/>
          <p:nvPr/>
        </p:nvSpPr>
        <p:spPr>
          <a:xfrm>
            <a:off x="512064" y="1051560"/>
            <a:ext cx="2926080" cy="658368"/>
          </a:xfrm>
          <a:prstGeom prst="rect">
            <a:avLst/>
          </a:prstGeom>
          <a:noFill/>
          <a:ln/>
        </p:spPr>
        <p:txBody>
          <a:bodyPr wrap="square" lIns="0" tIns="0" rIns="0" bIns="0" rtlCol="0" anchor="ctr"/>
          <a:lstStyle/>
          <a:p>
            <a:pPr indent="0" marL="0">
              <a:lnSpc>
                <a:spcPct val="105000"/>
              </a:lnSpc>
              <a:buNone/>
            </a:pPr>
            <a:r>
              <a:rPr lang="en-US" sz="4000" b="1" dirty="0">
                <a:solidFill>
                  <a:srgbClr val="347A1C"/>
                </a:solidFill>
                <a:latin typeface="Noto Sans" pitchFamily="34" charset="0"/>
                <a:ea typeface="Noto Sans" pitchFamily="34" charset="-122"/>
                <a:cs typeface="Noto Sans" pitchFamily="34" charset="-120"/>
              </a:rPr>
              <a:t>457.199</a:t>
            </a:r>
            <a:endParaRPr lang="en-US" sz="4000" dirty="0"/>
          </a:p>
        </p:txBody>
      </p:sp>
      <p:sp>
        <p:nvSpPr>
          <p:cNvPr id="5" name="Text 2"/>
          <p:cNvSpPr txBox="1"/>
          <p:nvPr/>
        </p:nvSpPr>
        <p:spPr>
          <a:xfrm>
            <a:off x="512064" y="1737360"/>
            <a:ext cx="2926080" cy="292608"/>
          </a:xfrm>
          <a:prstGeom prst="rect">
            <a:avLst/>
          </a:prstGeom>
          <a:noFill/>
          <a:ln/>
        </p:spPr>
        <p:txBody>
          <a:bodyPr wrap="square" lIns="0" tIns="0" rIns="0" bIns="0" rtlCol="0" anchor="t"/>
          <a:lstStyle/>
          <a:p>
            <a:pPr indent="0" marL="0">
              <a:lnSpc>
                <a:spcPct val="105000"/>
              </a:lnSpc>
              <a:buNone/>
            </a:pPr>
            <a:r>
              <a:rPr lang="en-US" sz="1500" dirty="0">
                <a:solidFill>
                  <a:srgbClr val="000000"/>
                </a:solidFill>
                <a:latin typeface="Noto Sans" pitchFamily="34" charset="0"/>
                <a:ea typeface="Noto Sans" pitchFamily="34" charset="-122"/>
                <a:cs typeface="Noto Sans" pitchFamily="34" charset="-120"/>
              </a:rPr>
              <a:t>bài viết trong 12 chủ đề</a:t>
            </a:r>
            <a:endParaRPr lang="en-US" sz="1500" dirty="0"/>
          </a:p>
        </p:txBody>
      </p:sp>
      <p:sp>
        <p:nvSpPr>
          <p:cNvPr id="6" name="Text 3"/>
          <p:cNvSpPr txBox="1"/>
          <p:nvPr/>
        </p:nvSpPr>
        <p:spPr>
          <a:xfrm>
            <a:off x="512064" y="2331720"/>
            <a:ext cx="2926080" cy="658368"/>
          </a:xfrm>
          <a:prstGeom prst="rect">
            <a:avLst/>
          </a:prstGeom>
          <a:noFill/>
          <a:ln/>
        </p:spPr>
        <p:txBody>
          <a:bodyPr wrap="square" lIns="0" tIns="0" rIns="0" bIns="0" rtlCol="0" anchor="ctr"/>
          <a:lstStyle/>
          <a:p>
            <a:pPr indent="0" marL="0">
              <a:lnSpc>
                <a:spcPct val="105000"/>
              </a:lnSpc>
              <a:buNone/>
            </a:pPr>
            <a:r>
              <a:rPr lang="en-US" sz="4000" b="1" dirty="0">
                <a:solidFill>
                  <a:srgbClr val="161616"/>
                </a:solidFill>
                <a:latin typeface="Noto Sans" pitchFamily="34" charset="0"/>
                <a:ea typeface="Noto Sans" pitchFamily="34" charset="-122"/>
                <a:cs typeface="Noto Sans" pitchFamily="34" charset="-120"/>
              </a:rPr>
              <a:t>13.145</a:t>
            </a:r>
            <a:endParaRPr lang="en-US" sz="4000" dirty="0"/>
          </a:p>
        </p:txBody>
      </p:sp>
      <p:sp>
        <p:nvSpPr>
          <p:cNvPr id="7" name="Text 4"/>
          <p:cNvSpPr txBox="1"/>
          <p:nvPr/>
        </p:nvSpPr>
        <p:spPr>
          <a:xfrm>
            <a:off x="512064" y="3017520"/>
            <a:ext cx="2926080" cy="292608"/>
          </a:xfrm>
          <a:prstGeom prst="rect">
            <a:avLst/>
          </a:prstGeom>
          <a:noFill/>
          <a:ln/>
        </p:spPr>
        <p:txBody>
          <a:bodyPr wrap="square" lIns="0" tIns="0" rIns="0" bIns="0" rtlCol="0" anchor="t"/>
          <a:lstStyle/>
          <a:p>
            <a:pPr indent="0" marL="0">
              <a:lnSpc>
                <a:spcPct val="105000"/>
              </a:lnSpc>
              <a:buNone/>
            </a:pPr>
            <a:r>
              <a:rPr lang="en-US" sz="1500" dirty="0">
                <a:solidFill>
                  <a:srgbClr val="000000"/>
                </a:solidFill>
                <a:latin typeface="Noto Sans" pitchFamily="34" charset="0"/>
                <a:ea typeface="Noto Sans" pitchFamily="34" charset="-122"/>
                <a:cs typeface="Noto Sans" pitchFamily="34" charset="-120"/>
              </a:rPr>
              <a:t>truy vấn có nhãn</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11880" y="1051560"/>
          <a:ext cx="5020056" cy="914400"/>
        </p:xfrm>
        <a:graphic>
          <a:graphicData uri="http://schemas.openxmlformats.org/drawingml/2006/table">
            <a:tbl>
              <a:tblPr/>
              <a:tblGrid>
                <a:gridCol w="1325880"/>
                <a:gridCol w="1984248"/>
                <a:gridCol w="850392"/>
                <a:gridCol w="859536"/>
              </a:tblGrid>
              <a:tr h="365760">
                <a:tc>
                  <a:txBody>
                    <a:bodyPr/>
                    <a:lstStyle/>
                    <a:p>
                      <a:pPr algn="l" indent="0" marL="0">
                        <a:buNone/>
                      </a:pPr>
                      <a:r>
                        <a:rPr lang="en-US" sz="1250" b="1" dirty="0">
                          <a:solidFill>
                            <a:srgbClr val="004AAD"/>
                          </a:solidFill>
                          <a:latin typeface="Noto Sans" pitchFamily="34" charset="0"/>
                          <a:ea typeface="Noto Sans" pitchFamily="34" charset="-122"/>
                          <a:cs typeface="Noto Sans" pitchFamily="34" charset="-120"/>
                        </a:rPr>
                        <a:t>Vai trò</a:t>
                      </a:r>
                      <a:endParaRPr lang="en-US" sz="1250" dirty="0">
                        <a:latin typeface="Noto Sans" charset="0"/>
                        <a:ea typeface="Noto Sans" charset="0"/>
                        <a:cs typeface="Noto Sans" charset="0"/>
                      </a:endParaRPr>
                    </a:p>
                  </a:txBody>
                  <a:tcPr marL="50800" marR="50800" marT="38100" marB="38100" anchor="ctr">
                    <a:lnL w="0" cap="flat" cmpd="sng" algn="ctr">
                      <a:noFill/>
                    </a:lnL>
                    <a:lnR w="0" cap="flat" cmpd="sng" algn="ctr">
                      <a:noFill/>
                    </a:lnR>
                    <a:lnT w="0" cap="flat" cmpd="sng" algn="ctr">
                      <a:noFill/>
                    </a:lnT>
                    <a:lnB w="19050" cap="flat" cmpd="sng" algn="ctr">
                      <a:solidFill>
                        <a:srgbClr val="004AAD"/>
                      </a:solidFill>
                      <a:prstDash val="solid"/>
                      <a:round/>
                      <a:headEnd type="none" w="med" len="med"/>
                      <a:tailEnd type="none" w="med" len="med"/>
                    </a:lnB>
                  </a:tcPr>
                </a:tc>
                <a:tc>
                  <a:txBody>
                    <a:bodyPr/>
                    <a:lstStyle/>
                    <a:p>
                      <a:pPr algn="l" indent="0" marL="0">
                        <a:buNone/>
                      </a:pPr>
                      <a:r>
                        <a:rPr lang="en-US" sz="1250" b="1" dirty="0">
                          <a:solidFill>
                            <a:srgbClr val="004AAD"/>
                          </a:solidFill>
                          <a:latin typeface="Noto Sans" pitchFamily="34" charset="0"/>
                          <a:ea typeface="Noto Sans" pitchFamily="34" charset="-122"/>
                          <a:cs typeface="Noto Sans" pitchFamily="34" charset="-120"/>
                        </a:rPr>
                        <a:t>Chủ đề</a:t>
                      </a:r>
                      <a:endParaRPr lang="en-US" sz="1250" dirty="0">
                        <a:latin typeface="Noto Sans" charset="0"/>
                        <a:ea typeface="Noto Sans" charset="0"/>
                        <a:cs typeface="Noto Sans" charset="0"/>
                      </a:endParaRPr>
                    </a:p>
                  </a:txBody>
                  <a:tcPr marL="50800" marR="50800" marT="38100" marB="38100" anchor="ctr">
                    <a:lnL w="0" cap="flat" cmpd="sng" algn="ctr">
                      <a:noFill/>
                    </a:lnL>
                    <a:lnR w="0" cap="flat" cmpd="sng" algn="ctr">
                      <a:noFill/>
                    </a:lnR>
                    <a:lnT w="0" cap="flat" cmpd="sng" algn="ctr">
                      <a:noFill/>
                    </a:lnT>
                    <a:lnB w="19050" cap="flat" cmpd="sng" algn="ctr">
                      <a:solidFill>
                        <a:srgbClr val="004AAD"/>
                      </a:solidFill>
                      <a:prstDash val="solid"/>
                      <a:round/>
                      <a:headEnd type="none" w="med" len="med"/>
                      <a:tailEnd type="none" w="med" len="med"/>
                    </a:lnB>
                  </a:tcPr>
                </a:tc>
                <a:tc>
                  <a:txBody>
                    <a:bodyPr/>
                    <a:lstStyle/>
                    <a:p>
                      <a:pPr algn="r" indent="0" marL="0">
                        <a:buNone/>
                      </a:pPr>
                      <a:r>
                        <a:rPr lang="en-US" sz="1250" b="1" dirty="0">
                          <a:solidFill>
                            <a:srgbClr val="004AAD"/>
                          </a:solidFill>
                          <a:latin typeface="Noto Sans" pitchFamily="34" charset="0"/>
                          <a:ea typeface="Noto Sans" pitchFamily="34" charset="-122"/>
                          <a:cs typeface="Noto Sans" pitchFamily="34" charset="-120"/>
                        </a:rPr>
                        <a:t>Bài viết</a:t>
                      </a:r>
                      <a:endParaRPr lang="en-US" sz="1250" dirty="0">
                        <a:latin typeface="Noto Sans" charset="0"/>
                        <a:ea typeface="Noto Sans" charset="0"/>
                        <a:cs typeface="Noto Sans" charset="0"/>
                      </a:endParaRPr>
                    </a:p>
                  </a:txBody>
                  <a:tcPr marL="50800" marR="50800" marT="38100" marB="38100" anchor="ctr">
                    <a:lnL w="0" cap="flat" cmpd="sng" algn="ctr">
                      <a:noFill/>
                    </a:lnL>
                    <a:lnR w="0" cap="flat" cmpd="sng" algn="ctr">
                      <a:noFill/>
                    </a:lnR>
                    <a:lnT w="0" cap="flat" cmpd="sng" algn="ctr">
                      <a:noFill/>
                    </a:lnT>
                    <a:lnB w="19050" cap="flat" cmpd="sng" algn="ctr">
                      <a:solidFill>
                        <a:srgbClr val="004AAD"/>
                      </a:solidFill>
                      <a:prstDash val="solid"/>
                      <a:round/>
                      <a:headEnd type="none" w="med" len="med"/>
                      <a:tailEnd type="none" w="med" len="med"/>
                    </a:lnB>
                  </a:tcPr>
                </a:tc>
                <a:tc>
                  <a:txBody>
                    <a:bodyPr/>
                    <a:lstStyle/>
                    <a:p>
                      <a:pPr algn="r" indent="0" marL="0">
                        <a:buNone/>
                      </a:pPr>
                      <a:r>
                        <a:rPr lang="en-US" sz="1250" b="1" dirty="0">
                          <a:solidFill>
                            <a:srgbClr val="004AAD"/>
                          </a:solidFill>
                          <a:latin typeface="Noto Sans" pitchFamily="34" charset="0"/>
                          <a:ea typeface="Noto Sans" pitchFamily="34" charset="-122"/>
                          <a:cs typeface="Noto Sans" pitchFamily="34" charset="-120"/>
                        </a:rPr>
                        <a:t>Truy vấn</a:t>
                      </a:r>
                      <a:endParaRPr lang="en-US" sz="1250" dirty="0">
                        <a:latin typeface="Noto Sans" charset="0"/>
                        <a:ea typeface="Noto Sans" charset="0"/>
                        <a:cs typeface="Noto Sans" charset="0"/>
                      </a:endParaRPr>
                    </a:p>
                  </a:txBody>
                  <a:tcPr marL="50800" marR="50800" marT="38100" marB="38100" anchor="ctr">
                    <a:lnL w="0" cap="flat" cmpd="sng" algn="ctr">
                      <a:noFill/>
                    </a:lnL>
                    <a:lnR w="0" cap="flat" cmpd="sng" algn="ctr">
                      <a:noFill/>
                    </a:lnR>
                    <a:lnT w="0" cap="flat" cmpd="sng" algn="ctr">
                      <a:noFill/>
                    </a:lnT>
                    <a:lnB w="19050" cap="flat" cmpd="sng" algn="ctr">
                      <a:solidFill>
                        <a:srgbClr val="004AAD"/>
                      </a:solidFill>
                      <a:prstDash val="solid"/>
                      <a:round/>
                      <a:headEnd type="none" w="med" len="med"/>
                      <a:tailEnd type="none" w="med" len="med"/>
                    </a:lnB>
                  </a:tcPr>
                </a:tc>
              </a:tr>
              <a:tr h="822960">
                <a:tc>
                  <a:txBody>
                    <a:bodyPr/>
                    <a:lstStyle/>
                    <a:p>
                      <a:pPr indent="0" marL="0">
                        <a:buNone/>
                      </a:pPr>
                      <a:r>
                        <a:rPr lang="en-US" sz="1250" b="1" dirty="0">
                          <a:solidFill>
                            <a:srgbClr val="161616"/>
                          </a:solidFill>
                          <a:latin typeface="Noto Sans" pitchFamily="34" charset="0"/>
                          <a:ea typeface="Noto Sans" pitchFamily="34" charset="-122"/>
                          <a:cs typeface="Noto Sans" pitchFamily="34" charset="-120"/>
                        </a:rPr>
                        <a:t>Huấn luyện gate</a:t>
                      </a:r>
                      <a:endParaRPr lang="en-US" sz="1250" dirty="0">
                        <a:latin typeface="Noto Sans" charset="0"/>
                        <a:ea typeface="Noto Sans" charset="0"/>
                        <a:cs typeface="Noto Sans" charset="0"/>
                      </a:endParaRPr>
                    </a:p>
                  </a:txBody>
                  <a:tcPr marL="50800" marR="50800" marT="38100" marB="38100"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61616"/>
                          </a:solidFill>
                          <a:latin typeface="Noto Sans" pitchFamily="34" charset="0"/>
                          <a:ea typeface="Noto Sans" pitchFamily="34" charset="-122"/>
                          <a:cs typeface="Noto Sans" pitchFamily="34" charset="-120"/>
                        </a:rPr>
                        <a:t>programmers, unix, android, gis, mathematica, webmasters</a:t>
                      </a:r>
                      <a:endParaRPr lang="en-US" sz="1250" dirty="0">
                        <a:latin typeface="Noto Sans" charset="0"/>
                        <a:ea typeface="Noto Sans" charset="0"/>
                        <a:cs typeface="Noto Sans" charset="0"/>
                      </a:endParaRPr>
                    </a:p>
                  </a:txBody>
                  <a:tcPr marL="50800" marR="50800" marT="38100" marB="38100"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250" dirty="0">
                          <a:solidFill>
                            <a:srgbClr val="161616"/>
                          </a:solidFill>
                          <a:latin typeface="Noto Sans" pitchFamily="34" charset="0"/>
                          <a:ea typeface="Noto Sans" pitchFamily="34" charset="-122"/>
                          <a:cs typeface="Noto Sans" pitchFamily="34" charset="-120"/>
                        </a:rPr>
                        <a:t>174.303</a:t>
                      </a:r>
                      <a:endParaRPr lang="en-US" sz="1250" dirty="0">
                        <a:latin typeface="Noto Sans" charset="0"/>
                        <a:ea typeface="Noto Sans" charset="0"/>
                        <a:cs typeface="Noto Sans" charset="0"/>
                      </a:endParaRPr>
                    </a:p>
                  </a:txBody>
                  <a:tcPr marL="50800" marR="50800" marT="38100" marB="38100"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250" dirty="0">
                          <a:solidFill>
                            <a:srgbClr val="161616"/>
                          </a:solidFill>
                          <a:latin typeface="Noto Sans" pitchFamily="34" charset="0"/>
                          <a:ea typeface="Noto Sans" pitchFamily="34" charset="-122"/>
                          <a:cs typeface="Noto Sans" pitchFamily="34" charset="-120"/>
                        </a:rPr>
                        <a:t>4.842</a:t>
                      </a:r>
                      <a:endParaRPr lang="en-US" sz="1250" dirty="0">
                        <a:latin typeface="Noto Sans" charset="0"/>
                        <a:ea typeface="Noto Sans" charset="0"/>
                        <a:cs typeface="Noto Sans" charset="0"/>
                      </a:endParaRPr>
                    </a:p>
                  </a:txBody>
                  <a:tcPr marL="50800" marR="50800" marT="38100" marB="38100"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530352">
                <a:tc>
                  <a:txBody>
                    <a:bodyPr/>
                    <a:lstStyle/>
                    <a:p>
                      <a:pPr indent="0" marL="0">
                        <a:buNone/>
                      </a:pPr>
                      <a:r>
                        <a:rPr lang="en-US" sz="1250" b="1" dirty="0">
                          <a:solidFill>
                            <a:srgbClr val="161616"/>
                          </a:solidFill>
                          <a:latin typeface="Noto Sans" pitchFamily="34" charset="0"/>
                          <a:ea typeface="Noto Sans" pitchFamily="34" charset="-122"/>
                          <a:cs typeface="Noto Sans" pitchFamily="34" charset="-120"/>
                        </a:rPr>
                        <a:t>Đánh giá</a:t>
                      </a:r>
                      <a:endParaRPr lang="en-US" sz="1250" dirty="0">
                        <a:latin typeface="Noto Sans" charset="0"/>
                        <a:ea typeface="Noto Sans" charset="0"/>
                        <a:cs typeface="Noto Sans" charset="0"/>
                      </a:endParaRPr>
                    </a:p>
                  </a:txBody>
                  <a:tcPr marL="50800" marR="50800" marT="38100" marB="38100"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250" dirty="0">
                          <a:solidFill>
                            <a:srgbClr val="161616"/>
                          </a:solidFill>
                          <a:latin typeface="Noto Sans" pitchFamily="34" charset="0"/>
                          <a:ea typeface="Noto Sans" pitchFamily="34" charset="-122"/>
                          <a:cs typeface="Noto Sans" pitchFamily="34" charset="-120"/>
                        </a:rPr>
                        <a:t>english, gaming, physics, stats, tex, wordpress</a:t>
                      </a:r>
                      <a:endParaRPr lang="en-US" sz="1250" dirty="0">
                        <a:latin typeface="Noto Sans" charset="0"/>
                        <a:ea typeface="Noto Sans" charset="0"/>
                        <a:cs typeface="Noto Sans" charset="0"/>
                      </a:endParaRPr>
                    </a:p>
                  </a:txBody>
                  <a:tcPr marL="50800" marR="50800" marT="38100" marB="38100"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250" dirty="0">
                          <a:solidFill>
                            <a:srgbClr val="161616"/>
                          </a:solidFill>
                          <a:latin typeface="Noto Sans" pitchFamily="34" charset="0"/>
                          <a:ea typeface="Noto Sans" pitchFamily="34" charset="-122"/>
                          <a:cs typeface="Noto Sans" pitchFamily="34" charset="-120"/>
                        </a:rPr>
                        <a:t>282.896</a:t>
                      </a:r>
                      <a:endParaRPr lang="en-US" sz="1250" dirty="0">
                        <a:latin typeface="Noto Sans" charset="0"/>
                        <a:ea typeface="Noto Sans" charset="0"/>
                        <a:cs typeface="Noto Sans" charset="0"/>
                      </a:endParaRPr>
                    </a:p>
                  </a:txBody>
                  <a:tcPr marL="50800" marR="50800" marT="38100" marB="38100"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250" dirty="0">
                          <a:solidFill>
                            <a:srgbClr val="161616"/>
                          </a:solidFill>
                          <a:latin typeface="Noto Sans" pitchFamily="34" charset="0"/>
                          <a:ea typeface="Noto Sans" pitchFamily="34" charset="-122"/>
                          <a:cs typeface="Noto Sans" pitchFamily="34" charset="-120"/>
                        </a:rPr>
                        <a:t>8.303</a:t>
                      </a:r>
                      <a:endParaRPr lang="en-US" sz="1250" dirty="0">
                        <a:latin typeface="Noto Sans" charset="0"/>
                        <a:ea typeface="Noto Sans" charset="0"/>
                        <a:cs typeface="Noto Sans" charset="0"/>
                      </a:endParaRPr>
                    </a:p>
                  </a:txBody>
                  <a:tcPr marL="50800" marR="50800" marT="38100" marB="38100"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bl>
          </a:graphicData>
        </a:graphic>
      </p:graphicFrame>
      <p:sp>
        <p:nvSpPr>
          <p:cNvPr id="9" name="Text 5"/>
          <p:cNvSpPr txBox="1"/>
          <p:nvPr/>
        </p:nvSpPr>
        <p:spPr>
          <a:xfrm>
            <a:off x="3611880" y="3017520"/>
            <a:ext cx="5020056" cy="868680"/>
          </a:xfrm>
          <a:prstGeom prst="rect">
            <a:avLst/>
          </a:prstGeom>
          <a:noFill/>
          <a:ln/>
        </p:spPr>
        <p:txBody>
          <a:bodyPr wrap="square" lIns="0" tIns="0" rIns="0" bIns="0" rtlCol="0" anchor="t"/>
          <a:lstStyle/>
          <a:p>
            <a:pPr indent="0" marL="0">
              <a:lnSpc>
                <a:spcPct val="105000"/>
              </a:lnSpc>
              <a:spcAft>
                <a:spcPts val="400"/>
              </a:spcAft>
              <a:buNone/>
            </a:pPr>
            <a:r>
              <a:rPr lang="en-US" sz="1350" dirty="0">
                <a:solidFill>
                  <a:srgbClr val="000000"/>
                </a:solidFill>
                <a:latin typeface="Noto Sans" pitchFamily="34" charset="0"/>
                <a:ea typeface="Noto Sans" pitchFamily="34" charset="-122"/>
                <a:cs typeface="Noto Sans" pitchFamily="34" charset="-120"/>
              </a:rPr>
              <a:t>Gate được học trên 6 chủ đề đầu, đóng băng, rồi mới đánh giá trên 6 chủ đề chưa từng dùng.</a:t>
            </a:r>
            <a:endParaRPr lang="en-US" sz="1350" dirty="0"/>
          </a:p>
          <a:p>
            <a:pPr indent="0" marL="0">
              <a:lnSpc>
                <a:spcPct val="105000"/>
              </a:lnSpc>
              <a:spcAft>
                <a:spcPts val="400"/>
              </a:spcAft>
              <a:buNone/>
            </a:pPr>
            <a:r>
              <a:rPr lang="en-US" sz="1350" dirty="0">
                <a:solidFill>
                  <a:srgbClr val="000000"/>
                </a:solidFill>
                <a:latin typeface="Noto Sans" pitchFamily="34" charset="0"/>
                <a:ea typeface="Noto Sans" pitchFamily="34" charset="-122"/>
                <a:cs typeface="Noto Sans" pitchFamily="34" charset="-120"/>
              </a:rPr>
              <a:t>Tốc độ thực tế được đo trên programmers và unix.</a:t>
            </a:r>
            <a:endParaRPr lang="en-US" sz="1350" dirty="0"/>
          </a:p>
        </p:txBody>
      </p:sp>
      <p:sp>
        <p:nvSpPr>
          <p:cNvPr id="10" name="Text 6"/>
          <p:cNvSpPr txBox="1"/>
          <p:nvPr/>
        </p:nvSpPr>
        <p:spPr>
          <a:xfrm>
            <a:off x="512064" y="4663440"/>
            <a:ext cx="5486400" cy="256032"/>
          </a:xfrm>
          <a:prstGeom prst="rect">
            <a:avLst/>
          </a:prstGeom>
          <a:noFill/>
          <a:ln/>
        </p:spPr>
        <p:txBody>
          <a:bodyPr wrap="square" lIns="0" tIns="0" rIns="0" bIns="0" rtlCol="0" anchor="ctr"/>
          <a:lstStyle/>
          <a:p>
            <a:pPr indent="0" marL="0">
              <a:lnSpc>
                <a:spcPct val="105000"/>
              </a:lnSpc>
              <a:buNone/>
            </a:pPr>
            <a:r>
              <a:rPr lang="en-US" sz="950" dirty="0">
                <a:solidFill>
                  <a:srgbClr val="A6A6A6"/>
                </a:solidFill>
                <a:latin typeface="Noto Sans" pitchFamily="34" charset="0"/>
                <a:ea typeface="Noto Sans" pitchFamily="34" charset="-122"/>
                <a:cs typeface="Noto Sans" pitchFamily="34" charset="-120"/>
              </a:rPr>
              <a:t>CQADupStack (BEIR): mỗi chủ đề là một diễn đàn hỏi đáp của Stack Exchange</a:t>
            </a:r>
            <a:endParaRPr lang="en-US" sz="950" dirty="0"/>
          </a:p>
        </p:txBody>
      </p:sp>
      <p:sp>
        <p:nvSpPr>
          <p:cNvPr id="25" name="Slide Number Placeholder 0"/>
          <p:cNvSpPr>
            <a:spLocks noGrp="1"/>
          </p:cNvSpPr>
          <p:nvPr>
            <p:ph type="sldNum" sz="quarter" idx="4294967295"/>
          </p:nvPr>
        </p:nvSpPr>
        <p:spPr>
          <a:xfrm>
            <a:off x="8183880" y="46634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0000"/>
                </a:solidFill>
                <a:latin typeface="Lora"/>
                <a:ea typeface="Lora"/>
                <a:cs typeface="Lora"/>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12064" y="128016"/>
            <a:ext cx="8119872" cy="548640"/>
          </a:xfrm>
          <a:prstGeom prst="rect">
            <a:avLst/>
          </a:prstGeom>
          <a:noFill/>
          <a:ln/>
        </p:spPr>
        <p:txBody>
          <a:bodyPr wrap="square" lIns="0" tIns="0" rIns="0" bIns="0" rtlCol="0" anchor="b"/>
          <a:lstStyle/>
          <a:p>
            <a:pPr algn="l" indent="0" marL="0">
              <a:buNone/>
            </a:pPr>
            <a:r>
              <a:rPr lang="en-US" sz="2600" b="1" dirty="0">
                <a:solidFill>
                  <a:srgbClr val="004AAD"/>
                </a:solidFill>
                <a:latin typeface="Noto Sans" pitchFamily="34" charset="0"/>
                <a:ea typeface="Noto Sans" pitchFamily="34" charset="-122"/>
                <a:cs typeface="Noto Sans" pitchFamily="34" charset="-120"/>
              </a:rPr>
              <a:t>Phương pháp so sánh và thước đo</a:t>
            </a:r>
            <a:endParaRPr lang="en-US" sz="2600" dirty="0"/>
          </a:p>
        </p:txBody>
      </p:sp>
      <p:sp>
        <p:nvSpPr>
          <p:cNvPr id="4" name="Text 1"/>
          <p:cNvSpPr txBox="1"/>
          <p:nvPr/>
        </p:nvSpPr>
        <p:spPr>
          <a:xfrm>
            <a:off x="512064" y="914400"/>
            <a:ext cx="8119872" cy="365760"/>
          </a:xfrm>
          <a:prstGeom prst="rect">
            <a:avLst/>
          </a:prstGeom>
          <a:noFill/>
          <a:ln/>
        </p:spPr>
        <p:txBody>
          <a:bodyPr wrap="square" lIns="0" tIns="0" rIns="0" bIns="0" rtlCol="0" anchor="t"/>
          <a:lstStyle/>
          <a:p>
            <a:pPr indent="0" marL="0">
              <a:lnSpc>
                <a:spcPct val="105000"/>
              </a:lnSpc>
              <a:buNone/>
            </a:pPr>
            <a:r>
              <a:rPr lang="en-US" sz="1700" dirty="0">
                <a:solidFill>
                  <a:srgbClr val="000000"/>
                </a:solidFill>
                <a:latin typeface="Noto Sans" pitchFamily="34" charset="0"/>
                <a:ea typeface="Noto Sans" pitchFamily="34" charset="-122"/>
                <a:cs typeface="Noto Sans" pitchFamily="34" charset="-120"/>
              </a:rPr>
              <a:t>Đối chiếu trên cùng dữ liệu và cùng máy CPU.</a:t>
            </a:r>
            <a:endParaRPr lang="en-US" sz="17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12064" y="1371600"/>
          <a:ext cx="5029200" cy="914400"/>
        </p:xfrm>
        <a:graphic>
          <a:graphicData uri="http://schemas.openxmlformats.org/drawingml/2006/table">
            <a:tbl>
              <a:tblPr/>
              <a:tblGrid>
                <a:gridCol w="1280160"/>
                <a:gridCol w="2331720"/>
                <a:gridCol w="1417320"/>
              </a:tblGrid>
              <a:tr h="365760">
                <a:tc>
                  <a:txBody>
                    <a:bodyPr/>
                    <a:lstStyle/>
                    <a:p>
                      <a:pPr algn="l" indent="0" marL="0">
                        <a:buNone/>
                      </a:pPr>
                      <a:r>
                        <a:rPr lang="en-US" sz="1300" b="1" dirty="0">
                          <a:solidFill>
                            <a:srgbClr val="004AAD"/>
                          </a:solidFill>
                          <a:latin typeface="Noto Sans" pitchFamily="34" charset="0"/>
                          <a:ea typeface="Noto Sans" pitchFamily="34" charset="-122"/>
                          <a:cs typeface="Noto Sans" pitchFamily="34" charset="-120"/>
                        </a:rPr>
                        <a:t>Phương pháp</a:t>
                      </a:r>
                      <a:endParaRPr lang="en-US" sz="1300" dirty="0">
                        <a:latin typeface="Noto Sans" charset="0"/>
                        <a:ea typeface="Noto Sans" charset="0"/>
                        <a:cs typeface="Noto Sans" charset="0"/>
                      </a:endParaRPr>
                    </a:p>
                  </a:txBody>
                  <a:tcPr marL="50800" marR="50800" marT="25400" marB="25400" anchor="ctr">
                    <a:lnL w="0" cap="flat" cmpd="sng" algn="ctr">
                      <a:noFill/>
                    </a:lnL>
                    <a:lnR w="0" cap="flat" cmpd="sng" algn="ctr">
                      <a:noFill/>
                    </a:lnR>
                    <a:lnT w="0" cap="flat" cmpd="sng" algn="ctr">
                      <a:noFill/>
                    </a:lnT>
                    <a:lnB w="19050" cap="flat" cmpd="sng" algn="ctr">
                      <a:solidFill>
                        <a:srgbClr val="004AAD"/>
                      </a:solidFill>
                      <a:prstDash val="solid"/>
                      <a:round/>
                      <a:headEnd type="none" w="med" len="med"/>
                      <a:tailEnd type="none" w="med" len="med"/>
                    </a:lnB>
                  </a:tcPr>
                </a:tc>
                <a:tc>
                  <a:txBody>
                    <a:bodyPr/>
                    <a:lstStyle/>
                    <a:p>
                      <a:pPr algn="l" indent="0" marL="0">
                        <a:buNone/>
                      </a:pPr>
                      <a:r>
                        <a:rPr lang="en-US" sz="1300" b="1" dirty="0">
                          <a:solidFill>
                            <a:srgbClr val="004AAD"/>
                          </a:solidFill>
                          <a:latin typeface="Noto Sans" pitchFamily="34" charset="0"/>
                          <a:ea typeface="Noto Sans" pitchFamily="34" charset="-122"/>
                          <a:cs typeface="Noto Sans" pitchFamily="34" charset="-120"/>
                        </a:rPr>
                        <a:t>Cách chọn</a:t>
                      </a:r>
                      <a:endParaRPr lang="en-US" sz="1300" dirty="0">
                        <a:latin typeface="Noto Sans" charset="0"/>
                        <a:ea typeface="Noto Sans" charset="0"/>
                        <a:cs typeface="Noto Sans" charset="0"/>
                      </a:endParaRPr>
                    </a:p>
                  </a:txBody>
                  <a:tcPr marL="50800" marR="50800" marT="25400" marB="25400" anchor="ctr">
                    <a:lnL w="0" cap="flat" cmpd="sng" algn="ctr">
                      <a:noFill/>
                    </a:lnL>
                    <a:lnR w="0" cap="flat" cmpd="sng" algn="ctr">
                      <a:noFill/>
                    </a:lnR>
                    <a:lnT w="0" cap="flat" cmpd="sng" algn="ctr">
                      <a:noFill/>
                    </a:lnT>
                    <a:lnB w="19050" cap="flat" cmpd="sng" algn="ctr">
                      <a:solidFill>
                        <a:srgbClr val="004AAD"/>
                      </a:solidFill>
                      <a:prstDash val="solid"/>
                      <a:round/>
                      <a:headEnd type="none" w="med" len="med"/>
                      <a:tailEnd type="none" w="med" len="med"/>
                    </a:lnB>
                  </a:tcPr>
                </a:tc>
                <a:tc>
                  <a:txBody>
                    <a:bodyPr/>
                    <a:lstStyle/>
                    <a:p>
                      <a:pPr algn="r" indent="0" marL="0">
                        <a:buNone/>
                      </a:pPr>
                      <a:r>
                        <a:rPr lang="en-US" sz="1300" b="1" dirty="0">
                          <a:solidFill>
                            <a:srgbClr val="004AAD"/>
                          </a:solidFill>
                          <a:latin typeface="Noto Sans" pitchFamily="34" charset="0"/>
                          <a:ea typeface="Noto Sans" pitchFamily="34" charset="-122"/>
                          <a:cs typeface="Noto Sans" pitchFamily="34" charset="-120"/>
                        </a:rPr>
                        <a:t>Gọi Dense</a:t>
                      </a:r>
                      <a:endParaRPr lang="en-US" sz="1300" dirty="0">
                        <a:latin typeface="Noto Sans" charset="0"/>
                        <a:ea typeface="Noto Sans" charset="0"/>
                        <a:cs typeface="Noto Sans" charset="0"/>
                      </a:endParaRPr>
                    </a:p>
                  </a:txBody>
                  <a:tcPr marL="50800" marR="50800" marT="25400" marB="25400" anchor="ctr">
                    <a:lnL w="0" cap="flat" cmpd="sng" algn="ctr">
                      <a:noFill/>
                    </a:lnL>
                    <a:lnR w="0" cap="flat" cmpd="sng" algn="ctr">
                      <a:noFill/>
                    </a:lnR>
                    <a:lnT w="0" cap="flat" cmpd="sng" algn="ctr">
                      <a:noFill/>
                    </a:lnT>
                    <a:lnB w="19050" cap="flat" cmpd="sng" algn="ctr">
                      <a:solidFill>
                        <a:srgbClr val="004AAD"/>
                      </a:solidFill>
                      <a:prstDash val="solid"/>
                      <a:round/>
                      <a:headEnd type="none" w="med" len="med"/>
                      <a:tailEnd type="none" w="med" len="med"/>
                    </a:lnB>
                  </a:tcPr>
                </a:tc>
              </a:tr>
              <a:tr h="365760">
                <a:tc>
                  <a:txBody>
                    <a:bodyPr/>
                    <a:lstStyle/>
                    <a:p>
                      <a:pPr indent="0" marL="0">
                        <a:buNone/>
                      </a:pPr>
                      <a:r>
                        <a:rPr lang="en-US" sz="1300" b="1" dirty="0">
                          <a:solidFill>
                            <a:srgbClr val="161616"/>
                          </a:solidFill>
                          <a:latin typeface="Noto Sans" pitchFamily="34" charset="0"/>
                          <a:ea typeface="Noto Sans" pitchFamily="34" charset="-122"/>
                          <a:cs typeface="Noto Sans" pitchFamily="34" charset="-120"/>
                        </a:rPr>
                        <a:t>BM25</a:t>
                      </a:r>
                      <a:endParaRPr lang="en-US" sz="1300" dirty="0">
                        <a:latin typeface="Noto Sans" charset="0"/>
                        <a:ea typeface="Noto Sans" charset="0"/>
                        <a:cs typeface="Noto Sans"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161616"/>
                          </a:solidFill>
                          <a:latin typeface="Noto Sans" pitchFamily="34" charset="0"/>
                          <a:ea typeface="Noto Sans" pitchFamily="34" charset="-122"/>
                          <a:cs typeface="Noto Sans" pitchFamily="34" charset="-120"/>
                        </a:rPr>
                        <a:t>Từ khóa</a:t>
                      </a:r>
                      <a:endParaRPr lang="en-US" sz="1300" dirty="0">
                        <a:latin typeface="Noto Sans" charset="0"/>
                        <a:ea typeface="Noto Sans" charset="0"/>
                        <a:cs typeface="Noto Sans"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300" dirty="0">
                          <a:solidFill>
                            <a:srgbClr val="161616"/>
                          </a:solidFill>
                          <a:latin typeface="Noto Sans" pitchFamily="34" charset="0"/>
                          <a:ea typeface="Noto Sans" pitchFamily="34" charset="-122"/>
                          <a:cs typeface="Noto Sans" pitchFamily="34" charset="-120"/>
                        </a:rPr>
                        <a:t>Không</a:t>
                      </a:r>
                      <a:endParaRPr lang="en-US" sz="1300" dirty="0">
                        <a:latin typeface="Noto Sans" charset="0"/>
                        <a:ea typeface="Noto Sans" charset="0"/>
                        <a:cs typeface="Noto Sans"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300" b="1" dirty="0">
                          <a:solidFill>
                            <a:srgbClr val="161616"/>
                          </a:solidFill>
                          <a:latin typeface="Noto Sans" pitchFamily="34" charset="0"/>
                          <a:ea typeface="Noto Sans" pitchFamily="34" charset="-122"/>
                          <a:cs typeface="Noto Sans" pitchFamily="34" charset="-120"/>
                        </a:rPr>
                        <a:t>Dense</a:t>
                      </a:r>
                      <a:endParaRPr lang="en-US" sz="1300" dirty="0">
                        <a:latin typeface="Noto Sans" charset="0"/>
                        <a:ea typeface="Noto Sans" charset="0"/>
                        <a:cs typeface="Noto Sans"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161616"/>
                          </a:solidFill>
                          <a:latin typeface="Noto Sans" pitchFamily="34" charset="0"/>
                          <a:ea typeface="Noto Sans" pitchFamily="34" charset="-122"/>
                          <a:cs typeface="Noto Sans" pitchFamily="34" charset="-120"/>
                        </a:rPr>
                        <a:t>Ngữ nghĩa</a:t>
                      </a:r>
                      <a:endParaRPr lang="en-US" sz="1300" dirty="0">
                        <a:latin typeface="Noto Sans" charset="0"/>
                        <a:ea typeface="Noto Sans" charset="0"/>
                        <a:cs typeface="Noto Sans"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300" dirty="0">
                          <a:solidFill>
                            <a:srgbClr val="161616"/>
                          </a:solidFill>
                          <a:latin typeface="Noto Sans" pitchFamily="34" charset="0"/>
                          <a:ea typeface="Noto Sans" pitchFamily="34" charset="-122"/>
                          <a:cs typeface="Noto Sans" pitchFamily="34" charset="-120"/>
                        </a:rPr>
                        <a:t>Luôn</a:t>
                      </a:r>
                      <a:endParaRPr lang="en-US" sz="1300" dirty="0">
                        <a:latin typeface="Noto Sans" charset="0"/>
                        <a:ea typeface="Noto Sans" charset="0"/>
                        <a:cs typeface="Noto Sans"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300" b="1" dirty="0">
                          <a:solidFill>
                            <a:srgbClr val="161616"/>
                          </a:solidFill>
                          <a:latin typeface="Noto Sans" pitchFamily="34" charset="0"/>
                          <a:ea typeface="Noto Sans" pitchFamily="34" charset="-122"/>
                          <a:cs typeface="Noto Sans" pitchFamily="34" charset="-120"/>
                        </a:rPr>
                        <a:t>Hybrid</a:t>
                      </a:r>
                      <a:endParaRPr lang="en-US" sz="1300" dirty="0">
                        <a:latin typeface="Noto Sans" charset="0"/>
                        <a:ea typeface="Noto Sans" charset="0"/>
                        <a:cs typeface="Noto Sans"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161616"/>
                          </a:solidFill>
                          <a:latin typeface="Noto Sans" pitchFamily="34" charset="0"/>
                          <a:ea typeface="Noto Sans" pitchFamily="34" charset="-122"/>
                          <a:cs typeface="Noto Sans" pitchFamily="34" charset="-120"/>
                        </a:rPr>
                        <a:t>BM25 + Dense</a:t>
                      </a:r>
                      <a:endParaRPr lang="en-US" sz="1300" dirty="0">
                        <a:latin typeface="Noto Sans" charset="0"/>
                        <a:ea typeface="Noto Sans" charset="0"/>
                        <a:cs typeface="Noto Sans"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300" dirty="0">
                          <a:solidFill>
                            <a:srgbClr val="161616"/>
                          </a:solidFill>
                          <a:latin typeface="Noto Sans" pitchFamily="34" charset="0"/>
                          <a:ea typeface="Noto Sans" pitchFamily="34" charset="-122"/>
                          <a:cs typeface="Noto Sans" pitchFamily="34" charset="-120"/>
                        </a:rPr>
                        <a:t>Luôn</a:t>
                      </a:r>
                      <a:endParaRPr lang="en-US" sz="1300" dirty="0">
                        <a:latin typeface="Noto Sans" charset="0"/>
                        <a:ea typeface="Noto Sans" charset="0"/>
                        <a:cs typeface="Noto Sans"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300" b="1" dirty="0">
                          <a:solidFill>
                            <a:srgbClr val="161616"/>
                          </a:solidFill>
                          <a:latin typeface="Noto Sans" pitchFamily="34" charset="0"/>
                          <a:ea typeface="Noto Sans" pitchFamily="34" charset="-122"/>
                          <a:cs typeface="Noto Sans" pitchFamily="34" charset="-120"/>
                        </a:rPr>
                        <a:t>BM25-margin</a:t>
                      </a:r>
                      <a:endParaRPr lang="en-US" sz="1300" dirty="0">
                        <a:latin typeface="Noto Sans" charset="0"/>
                        <a:ea typeface="Noto Sans" charset="0"/>
                        <a:cs typeface="Noto Sans"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161616"/>
                          </a:solidFill>
                          <a:latin typeface="Noto Sans" pitchFamily="34" charset="0"/>
                          <a:ea typeface="Noto Sans" pitchFamily="34" charset="-122"/>
                          <a:cs typeface="Noto Sans" pitchFamily="34" charset="-120"/>
                        </a:rPr>
                        <a:t>Quy tắc chênh điểm BM25</a:t>
                      </a:r>
                      <a:endParaRPr lang="en-US" sz="1300" dirty="0">
                        <a:latin typeface="Noto Sans" charset="0"/>
                        <a:ea typeface="Noto Sans" charset="0"/>
                        <a:cs typeface="Noto Sans"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300" dirty="0">
                          <a:solidFill>
                            <a:srgbClr val="161616"/>
                          </a:solidFill>
                          <a:latin typeface="Noto Sans" pitchFamily="34" charset="0"/>
                          <a:ea typeface="Noto Sans" pitchFamily="34" charset="-122"/>
                          <a:cs typeface="Noto Sans" pitchFamily="34" charset="-120"/>
                        </a:rPr>
                        <a:t>Theo ngân sách</a:t>
                      </a:r>
                      <a:endParaRPr lang="en-US" sz="1300" dirty="0">
                        <a:latin typeface="Noto Sans" charset="0"/>
                        <a:ea typeface="Noto Sans" charset="0"/>
                        <a:cs typeface="Noto Sans"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300" b="1" dirty="0">
                          <a:solidFill>
                            <a:srgbClr val="161616"/>
                          </a:solidFill>
                          <a:latin typeface="Noto Sans" pitchFamily="34" charset="0"/>
                          <a:ea typeface="Noto Sans" pitchFamily="34" charset="-122"/>
                          <a:cs typeface="Noto Sans" pitchFamily="34" charset="-120"/>
                        </a:rPr>
                        <a:t>Ngẫu nhiên</a:t>
                      </a:r>
                      <a:endParaRPr lang="en-US" sz="1300" dirty="0">
                        <a:latin typeface="Noto Sans" charset="0"/>
                        <a:ea typeface="Noto Sans" charset="0"/>
                        <a:cs typeface="Noto Sans"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161616"/>
                          </a:solidFill>
                          <a:latin typeface="Noto Sans" pitchFamily="34" charset="0"/>
                          <a:ea typeface="Noto Sans" pitchFamily="34" charset="-122"/>
                          <a:cs typeface="Noto Sans" pitchFamily="34" charset="-120"/>
                        </a:rPr>
                        <a:t>Chọn ngẫu nhiên</a:t>
                      </a:r>
                      <a:endParaRPr lang="en-US" sz="1300" dirty="0">
                        <a:latin typeface="Noto Sans" charset="0"/>
                        <a:ea typeface="Noto Sans" charset="0"/>
                        <a:cs typeface="Noto Sans"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300" dirty="0">
                          <a:solidFill>
                            <a:srgbClr val="161616"/>
                          </a:solidFill>
                          <a:latin typeface="Noto Sans" pitchFamily="34" charset="0"/>
                          <a:ea typeface="Noto Sans" pitchFamily="34" charset="-122"/>
                          <a:cs typeface="Noto Sans" pitchFamily="34" charset="-120"/>
                        </a:rPr>
                        <a:t>Theo ngân sách</a:t>
                      </a:r>
                      <a:endParaRPr lang="en-US" sz="1300" dirty="0">
                        <a:latin typeface="Noto Sans" charset="0"/>
                        <a:ea typeface="Noto Sans" charset="0"/>
                        <a:cs typeface="Noto Sans"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300" b="1" dirty="0">
                          <a:solidFill>
                            <a:srgbClr val="004AAD"/>
                          </a:solidFill>
                          <a:latin typeface="Noto Sans" pitchFamily="34" charset="0"/>
                          <a:ea typeface="Noto Sans" pitchFamily="34" charset="-122"/>
                          <a:cs typeface="Noto Sans" pitchFamily="34" charset="-120"/>
                        </a:rPr>
                        <a:t>PE-GH</a:t>
                      </a:r>
                      <a:endParaRPr lang="en-US" sz="1300" dirty="0">
                        <a:latin typeface="Noto Sans" charset="0"/>
                        <a:ea typeface="Noto Sans" charset="0"/>
                        <a:cs typeface="Noto Sans"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161616"/>
                          </a:solidFill>
                          <a:latin typeface="Noto Sans" pitchFamily="34" charset="0"/>
                          <a:ea typeface="Noto Sans" pitchFamily="34" charset="-122"/>
                          <a:cs typeface="Noto Sans" pitchFamily="34" charset="-120"/>
                        </a:rPr>
                        <a:t>Gate “BM25 thất bại”</a:t>
                      </a:r>
                      <a:endParaRPr lang="en-US" sz="1300" dirty="0">
                        <a:latin typeface="Noto Sans" charset="0"/>
                        <a:ea typeface="Noto Sans" charset="0"/>
                        <a:cs typeface="Noto Sans"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c>
                  <a:txBody>
                    <a:bodyPr/>
                    <a:lstStyle/>
                    <a:p>
                      <a:pPr algn="r" indent="0" marL="0">
                        <a:buNone/>
                      </a:pPr>
                      <a:r>
                        <a:rPr lang="en-US" sz="1300" dirty="0">
                          <a:solidFill>
                            <a:srgbClr val="161616"/>
                          </a:solidFill>
                          <a:latin typeface="Noto Sans" pitchFamily="34" charset="0"/>
                          <a:ea typeface="Noto Sans" pitchFamily="34" charset="-122"/>
                          <a:cs typeface="Noto Sans" pitchFamily="34" charset="-120"/>
                        </a:rPr>
                        <a:t>Theo ngân sách</a:t>
                      </a:r>
                      <a:endParaRPr lang="en-US" sz="1300" dirty="0">
                        <a:latin typeface="Noto Sans" charset="0"/>
                        <a:ea typeface="Noto Sans" charset="0"/>
                        <a:cs typeface="Noto Sans" charset="0"/>
                      </a:endParaRPr>
                    </a:p>
                  </a:txBody>
                  <a:tcPr marL="50800" marR="50800" marT="25400" marB="25400" anchor="ctr">
                    <a:lnL w="0" cap="flat" cmpd="sng" algn="ctr">
                      <a:noFill/>
                    </a:lnL>
                    <a:lnR w="0" cap="flat" cmpd="sng" algn="ctr">
                      <a:noFill/>
                    </a:lnR>
                    <a:lnT w="0" cap="flat" cmpd="sng" algn="ctr">
                      <a:noFill/>
                    </a:lnT>
                    <a:lnB w="9525" cap="flat" cmpd="sng" algn="ctr">
                      <a:solidFill>
                        <a:srgbClr val="D9D9D9"/>
                      </a:solidFill>
                      <a:prstDash val="solid"/>
                      <a:round/>
                      <a:headEnd type="none" w="med" len="med"/>
                      <a:tailEnd type="none" w="med" len="med"/>
                    </a:lnB>
                  </a:tcPr>
                </a:tc>
              </a:tr>
            </a:tbl>
          </a:graphicData>
        </a:graphic>
      </p:graphicFrame>
      <p:sp>
        <p:nvSpPr>
          <p:cNvPr id="6" name="Text 2"/>
          <p:cNvSpPr txBox="1"/>
          <p:nvPr/>
        </p:nvSpPr>
        <p:spPr>
          <a:xfrm>
            <a:off x="5897880" y="1417320"/>
            <a:ext cx="2743200" cy="777240"/>
          </a:xfrm>
          <a:prstGeom prst="rect">
            <a:avLst/>
          </a:prstGeom>
          <a:noFill/>
          <a:ln/>
        </p:spPr>
        <p:txBody>
          <a:bodyPr wrap="square" lIns="0" tIns="0" rIns="0" bIns="0" rtlCol="0" anchor="t"/>
          <a:lstStyle/>
          <a:p>
            <a:pPr indent="0" marL="0">
              <a:lnSpc>
                <a:spcPct val="105000"/>
              </a:lnSpc>
              <a:buNone/>
            </a:pPr>
            <a:r>
              <a:rPr lang="en-US" sz="1500" b="1" dirty="0">
                <a:solidFill>
                  <a:srgbClr val="004AAD"/>
                </a:solidFill>
                <a:latin typeface="Noto Sans" pitchFamily="34" charset="0"/>
                <a:ea typeface="Noto Sans" pitchFamily="34" charset="-122"/>
                <a:cs typeface="Noto Sans" pitchFamily="34" charset="-120"/>
              </a:rPr>
              <a:t>Chất lượng</a:t>
            </a:r>
            <a:endParaRPr lang="en-US" sz="1500" dirty="0"/>
          </a:p>
          <a:p>
            <a:pPr indent="0" marL="0">
              <a:lnSpc>
                <a:spcPct val="105000"/>
              </a:lnSpc>
              <a:buNone/>
            </a:pPr>
            <a:r>
              <a:rPr lang="en-US" sz="1500" dirty="0">
                <a:solidFill>
                  <a:srgbClr val="000000"/>
                </a:solidFill>
                <a:latin typeface="Noto Sans" pitchFamily="34" charset="0"/>
                <a:ea typeface="Noto Sans" pitchFamily="34" charset="-122"/>
                <a:cs typeface="Noto Sans" pitchFamily="34" charset="-120"/>
              </a:rPr>
              <a:t>nDCG@10: thứ tự của 10 kết quả đầu.</a:t>
            </a:r>
            <a:endParaRPr lang="en-US" sz="1500" dirty="0"/>
          </a:p>
        </p:txBody>
      </p:sp>
      <p:sp>
        <p:nvSpPr>
          <p:cNvPr id="7" name="Text 3"/>
          <p:cNvSpPr txBox="1"/>
          <p:nvPr/>
        </p:nvSpPr>
        <p:spPr>
          <a:xfrm>
            <a:off x="5897880" y="2331720"/>
            <a:ext cx="2743200" cy="777240"/>
          </a:xfrm>
          <a:prstGeom prst="rect">
            <a:avLst/>
          </a:prstGeom>
          <a:noFill/>
          <a:ln/>
        </p:spPr>
        <p:txBody>
          <a:bodyPr wrap="square" lIns="0" tIns="0" rIns="0" bIns="0" rtlCol="0" anchor="t"/>
          <a:lstStyle/>
          <a:p>
            <a:pPr indent="0" marL="0">
              <a:lnSpc>
                <a:spcPct val="105000"/>
              </a:lnSpc>
              <a:buNone/>
            </a:pPr>
            <a:r>
              <a:rPr lang="en-US" sz="1500" b="1" dirty="0">
                <a:solidFill>
                  <a:srgbClr val="004AAD"/>
                </a:solidFill>
                <a:latin typeface="Noto Sans" pitchFamily="34" charset="0"/>
                <a:ea typeface="Noto Sans" pitchFamily="34" charset="-122"/>
                <a:cs typeface="Noto Sans" pitchFamily="34" charset="-120"/>
              </a:rPr>
              <a:t>Chi phí</a:t>
            </a:r>
            <a:endParaRPr lang="en-US" sz="1500" dirty="0"/>
          </a:p>
          <a:p>
            <a:pPr indent="0" marL="0">
              <a:lnSpc>
                <a:spcPct val="105000"/>
              </a:lnSpc>
              <a:buNone/>
            </a:pPr>
            <a:r>
              <a:rPr lang="en-US" sz="1500" dirty="0">
                <a:solidFill>
                  <a:srgbClr val="000000"/>
                </a:solidFill>
                <a:latin typeface="Noto Sans" pitchFamily="34" charset="0"/>
                <a:ea typeface="Noto Sans" pitchFamily="34" charset="-122"/>
                <a:cs typeface="Noto Sans" pitchFamily="34" charset="-120"/>
              </a:rPr>
              <a:t>Tỷ lệ truy vấn gọi Dense, thời gian CPU.</a:t>
            </a:r>
            <a:endParaRPr lang="en-US" sz="1500" dirty="0"/>
          </a:p>
        </p:txBody>
      </p:sp>
      <p:sp>
        <p:nvSpPr>
          <p:cNvPr id="8" name="Text 4"/>
          <p:cNvSpPr txBox="1"/>
          <p:nvPr/>
        </p:nvSpPr>
        <p:spPr>
          <a:xfrm>
            <a:off x="5897880" y="3246120"/>
            <a:ext cx="2743200" cy="777240"/>
          </a:xfrm>
          <a:prstGeom prst="rect">
            <a:avLst/>
          </a:prstGeom>
          <a:noFill/>
          <a:ln/>
        </p:spPr>
        <p:txBody>
          <a:bodyPr wrap="square" lIns="0" tIns="0" rIns="0" bIns="0" rtlCol="0" anchor="t"/>
          <a:lstStyle/>
          <a:p>
            <a:pPr indent="0" marL="0">
              <a:lnSpc>
                <a:spcPct val="105000"/>
              </a:lnSpc>
              <a:buNone/>
            </a:pPr>
            <a:r>
              <a:rPr lang="en-US" sz="1500" b="1" dirty="0">
                <a:solidFill>
                  <a:srgbClr val="004AAD"/>
                </a:solidFill>
                <a:latin typeface="Noto Sans" pitchFamily="34" charset="0"/>
                <a:ea typeface="Noto Sans" pitchFamily="34" charset="-122"/>
                <a:cs typeface="Noto Sans" pitchFamily="34" charset="-120"/>
              </a:rPr>
              <a:t>Độ trễ</a:t>
            </a:r>
            <a:endParaRPr lang="en-US" sz="1500" dirty="0"/>
          </a:p>
          <a:p>
            <a:pPr indent="0" marL="0">
              <a:lnSpc>
                <a:spcPct val="105000"/>
              </a:lnSpc>
              <a:buNone/>
            </a:pPr>
            <a:r>
              <a:rPr lang="en-US" sz="1500" dirty="0">
                <a:solidFill>
                  <a:srgbClr val="000000"/>
                </a:solidFill>
                <a:latin typeface="Noto Sans" pitchFamily="34" charset="0"/>
                <a:ea typeface="Noto Sans" pitchFamily="34" charset="-122"/>
                <a:cs typeface="Noto Sans" pitchFamily="34" charset="-120"/>
              </a:rPr>
              <a:t>Trung bình, p50 và p95, mỗi lần một truy vấn.</a:t>
            </a:r>
            <a:endParaRPr lang="en-US" sz="1500" dirty="0"/>
          </a:p>
        </p:txBody>
      </p:sp>
      <p:sp>
        <p:nvSpPr>
          <p:cNvPr id="25" name="Slide Number Placeholder 0"/>
          <p:cNvSpPr>
            <a:spLocks noGrp="1"/>
          </p:cNvSpPr>
          <p:nvPr>
            <p:ph type="sldNum" sz="quarter" idx="4294967295"/>
          </p:nvPr>
        </p:nvSpPr>
        <p:spPr>
          <a:xfrm>
            <a:off x="8183880" y="46634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000000"/>
                </a:solidFill>
                <a:latin typeface="Lora"/>
                <a:ea typeface="Lora"/>
                <a:cs typeface="Lora"/>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877824" y="512064"/>
            <a:ext cx="768096" cy="768096"/>
          </a:xfrm>
          <a:prstGeom prst="ellipse">
            <a:avLst/>
          </a:prstGeom>
          <a:ln w="292608">
            <a:solidFill>
              <a:srgbClr val="12447A"/>
            </a:solidFill>
            <a:prstDash val="solid"/>
          </a:ln>
        </p:spPr>
      </p:sp>
      <p:sp>
        <p:nvSpPr>
          <p:cNvPr id="3" name="Shape 1"/>
          <p:cNvSpPr/>
          <p:nvPr/>
        </p:nvSpPr>
        <p:spPr>
          <a:xfrm>
            <a:off x="7804404" y="-845820"/>
            <a:ext cx="1911096" cy="1911096"/>
          </a:xfrm>
          <a:prstGeom prst="ellipse">
            <a:avLst/>
          </a:prstGeom>
          <a:ln w="722376">
            <a:solidFill>
              <a:srgbClr val="12447A"/>
            </a:solidFill>
            <a:prstDash val="solid"/>
          </a:ln>
        </p:spPr>
      </p:sp>
      <p:sp>
        <p:nvSpPr>
          <p:cNvPr id="4" name="Shape 2"/>
          <p:cNvSpPr/>
          <p:nvPr/>
        </p:nvSpPr>
        <p:spPr>
          <a:xfrm>
            <a:off x="-608076" y="4165092"/>
            <a:ext cx="1911096" cy="1911096"/>
          </a:xfrm>
          <a:prstGeom prst="ellipse">
            <a:avLst/>
          </a:prstGeom>
          <a:ln w="722376">
            <a:solidFill>
              <a:srgbClr val="12447A"/>
            </a:solidFill>
            <a:prstDash val="solid"/>
          </a:ln>
        </p:spPr>
      </p:sp>
      <p:sp>
        <p:nvSpPr>
          <p:cNvPr id="5" name="Shape 3"/>
          <p:cNvSpPr/>
          <p:nvPr/>
        </p:nvSpPr>
        <p:spPr>
          <a:xfrm>
            <a:off x="7808976" y="3246120"/>
            <a:ext cx="457200" cy="457200"/>
          </a:xfrm>
          <a:prstGeom prst="ellipse">
            <a:avLst/>
          </a:prstGeom>
          <a:solidFill>
            <a:srgbClr val="12447A"/>
          </a:solidFill>
          <a:ln/>
        </p:spPr>
      </p:sp>
      <p:sp>
        <p:nvSpPr>
          <p:cNvPr id="6" name="Shape 4"/>
          <p:cNvSpPr/>
          <p:nvPr/>
        </p:nvSpPr>
        <p:spPr>
          <a:xfrm>
            <a:off x="3767328" y="4242816"/>
            <a:ext cx="457200" cy="457200"/>
          </a:xfrm>
          <a:prstGeom prst="ellipse">
            <a:avLst/>
          </a:prstGeom>
          <a:solidFill>
            <a:srgbClr val="12447A"/>
          </a:solidFill>
          <a:ln/>
        </p:spPr>
      </p:sp>
      <p:sp>
        <p:nvSpPr>
          <p:cNvPr id="7" name="Text 5"/>
          <p:cNvSpPr txBox="1"/>
          <p:nvPr/>
        </p:nvSpPr>
        <p:spPr>
          <a:xfrm>
            <a:off x="1371600" y="1874520"/>
            <a:ext cx="6400800" cy="1188720"/>
          </a:xfrm>
          <a:prstGeom prst="rect">
            <a:avLst/>
          </a:prstGeom>
          <a:noFill/>
          <a:ln/>
        </p:spPr>
        <p:txBody>
          <a:bodyPr wrap="square" lIns="0" tIns="0" rIns="0" bIns="0" rtlCol="0" anchor="ctr"/>
          <a:lstStyle/>
          <a:p>
            <a:pPr algn="ctr" indent="0" marL="0">
              <a:lnSpc>
                <a:spcPct val="105000"/>
              </a:lnSpc>
              <a:buNone/>
            </a:pPr>
            <a:r>
              <a:rPr lang="en-US" sz="3600" b="1" dirty="0">
                <a:solidFill>
                  <a:srgbClr val="004AAD"/>
                </a:solidFill>
                <a:latin typeface="Noto Sans" pitchFamily="34" charset="0"/>
                <a:ea typeface="Noto Sans" pitchFamily="34" charset="-122"/>
                <a:cs typeface="Noto Sans" pitchFamily="34" charset="-120"/>
              </a:rPr>
              <a:t>CẢM ƠN THẦY</a:t>
            </a:r>
            <a:endParaRPr lang="en-US" sz="3600" dirty="0"/>
          </a:p>
          <a:p>
            <a:pPr algn="ctr" indent="0" marL="0">
              <a:lnSpc>
                <a:spcPct val="105000"/>
              </a:lnSpc>
              <a:buNone/>
            </a:pPr>
            <a:r>
              <a:rPr lang="en-US" sz="3600" b="1" dirty="0">
                <a:solidFill>
                  <a:srgbClr val="004AAD"/>
                </a:solidFill>
                <a:latin typeface="Noto Sans" pitchFamily="34" charset="0"/>
                <a:ea typeface="Noto Sans" pitchFamily="34" charset="-122"/>
                <a:cs typeface="Noto Sans" pitchFamily="34" charset="-120"/>
              </a:rPr>
              <a:t>ĐÃ LẮNG NGHE!</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PE-GH: giới thiệu đề tài</dc:title>
  <dc:subject>PptxGenJS Presentation</dc:subject>
  <dc:creator>PptxGenJS</dc:creator>
  <cp:lastModifiedBy>PptxGenJS</cp:lastModifiedBy>
  <cp:revision>1</cp:revision>
  <dcterms:created xsi:type="dcterms:W3CDTF">2026-10-31T14:37:35Z</dcterms:created>
  <dcterms:modified xsi:type="dcterms:W3CDTF">2026-10-31T14:37:35Z</dcterms:modified>
</cp:coreProperties>
</file>